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3"/>
  </p:notesMasterIdLst>
  <p:handoutMasterIdLst>
    <p:handoutMasterId r:id="rId24"/>
  </p:handoutMasterIdLst>
  <p:sldIdLst>
    <p:sldId id="338" r:id="rId5"/>
    <p:sldId id="327" r:id="rId6"/>
    <p:sldId id="315" r:id="rId7"/>
    <p:sldId id="329" r:id="rId8"/>
    <p:sldId id="302" r:id="rId9"/>
    <p:sldId id="339" r:id="rId10"/>
    <p:sldId id="340" r:id="rId11"/>
    <p:sldId id="344" r:id="rId12"/>
    <p:sldId id="345" r:id="rId13"/>
    <p:sldId id="346" r:id="rId14"/>
    <p:sldId id="347" r:id="rId15"/>
    <p:sldId id="348" r:id="rId16"/>
    <p:sldId id="349" r:id="rId17"/>
    <p:sldId id="350" r:id="rId18"/>
    <p:sldId id="341" r:id="rId19"/>
    <p:sldId id="342" r:id="rId20"/>
    <p:sldId id="343" r:id="rId21"/>
    <p:sldId id="304"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D9D9D9"/>
  </p:clrMru>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7085" autoAdjust="0"/>
    <p:restoredTop sz="95033" autoAdjust="0"/>
  </p:normalViewPr>
  <p:slideViewPr>
    <p:cSldViewPr snapToGrid="0">
      <p:cViewPr varScale="1">
        <p:scale>
          <a:sx n="87" d="100"/>
          <a:sy n="87" d="100"/>
        </p:scale>
        <p:origin x="-432" y="-86"/>
      </p:cViewPr>
      <p:guideLst>
        <p:guide orient="horz" pos="1968"/>
        <p:guide orient="horz" pos="3912"/>
        <p:guide orient="horz" pos="1656"/>
        <p:guide pos="408"/>
        <p:guide pos="7272"/>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pPr/>
              <a:t>9/10/2026</a:t>
            </a:fld>
            <a:endParaRPr lang="en-US" dirty="0"/>
          </a:p>
        </p:txBody>
      </p:sp>
      <p:sp>
        <p:nvSpPr>
          <p:cNvPr id="4" name="Footer Placeholder 3">
            <a:extLst>
              <a:ext uri="{FF2B5EF4-FFF2-40B4-BE49-F238E27FC236}">
                <a16:creationId xmlns=""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pPr/>
              <a:t>‹#›</a:t>
            </a:fld>
            <a:endParaRPr lang="en-US" dirty="0"/>
          </a:p>
        </p:txBody>
      </p:sp>
    </p:spTree>
    <p:extLst>
      <p:ext uri="{BB962C8B-B14F-4D97-AF65-F5344CB8AC3E}">
        <p14:creationId xmlns=""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pPr/>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pPr/>
              <a:t>‹#›</a:t>
            </a:fld>
            <a:endParaRPr lang="en-US" noProof="0" dirty="0"/>
          </a:p>
        </p:txBody>
      </p:sp>
    </p:spTree>
    <p:extLst>
      <p:ext uri="{BB962C8B-B14F-4D97-AF65-F5344CB8AC3E}">
        <p14:creationId xmlns=""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pPr/>
              <a:t>5</a:t>
            </a:fld>
            <a:endParaRPr lang="en-US" noProof="0" dirty="0"/>
          </a:p>
        </p:txBody>
      </p:sp>
    </p:spTree>
    <p:extLst>
      <p:ext uri="{BB962C8B-B14F-4D97-AF65-F5344CB8AC3E}">
        <p14:creationId xmlns=""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pPr/>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pPr/>
              <a:t>‹#›</a:t>
            </a:fld>
            <a:endParaRPr lang="en-US" dirty="0"/>
          </a:p>
        </p:txBody>
      </p:sp>
    </p:spTree>
    <p:extLst>
      <p:ext uri="{BB962C8B-B14F-4D97-AF65-F5344CB8AC3E}">
        <p14:creationId xmlns=""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pPr/>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pPr/>
              <a:t>‹#›</a:t>
            </a:fld>
            <a:endParaRPr lang="en-US" dirty="0"/>
          </a:p>
        </p:txBody>
      </p:sp>
    </p:spTree>
    <p:extLst>
      <p:ext uri="{BB962C8B-B14F-4D97-AF65-F5344CB8AC3E}">
        <p14:creationId xmlns=""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pPr/>
              <a:t>‹#›</a:t>
            </a:fld>
            <a:endParaRPr lang="en-US" dirty="0"/>
          </a:p>
        </p:txBody>
      </p:sp>
    </p:spTree>
    <p:extLst>
      <p:ext uri="{BB962C8B-B14F-4D97-AF65-F5344CB8AC3E}">
        <p14:creationId xmlns=""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 xmlns:p14="http://schemas.microsoft.com/office/powerpoint/2010/main" val="1409194673"/>
      </p:ext>
    </p:extLst>
  </p:cSld>
  <p:clrMapOvr>
    <a:masterClrMapping/>
  </p:clrMapOvr>
  <p:extLst>
    <p:ext uri="{DCECCB84-F9BA-43D5-87BE-67443E8EF086}">
      <p15:sldGuideLst xmlns=""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 xmlns:p14="http://schemas.microsoft.com/office/powerpoint/2010/main" val="75139580"/>
      </p:ext>
    </p:extLst>
  </p:cSld>
  <p:clrMapOvr>
    <a:masterClrMapping/>
  </p:clrMapOvr>
  <p:extLst>
    <p:ext uri="{DCECCB84-F9BA-43D5-87BE-67443E8EF086}">
      <p15:sldGuideLst xmlns=""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 xmlns:p14="http://schemas.microsoft.com/office/powerpoint/2010/main" val="1591254852"/>
      </p:ext>
    </p:extLst>
  </p:cSld>
  <p:clrMapOvr>
    <a:masterClrMapping/>
  </p:clrMapOvr>
  <p:extLst>
    <p:ext uri="{DCECCB84-F9BA-43D5-87BE-67443E8EF086}">
      <p15:sldGuideLst xmlns=""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 xmlns:p14="http://schemas.microsoft.com/office/powerpoint/2010/main" val="1795884839"/>
      </p:ext>
    </p:extLst>
  </p:cSld>
  <p:clrMapOvr>
    <a:masterClrMapping/>
  </p:clrMapOvr>
  <p:extLst>
    <p:ext uri="{DCECCB84-F9BA-43D5-87BE-67443E8EF086}">
      <p15:sldGuideLst xmlns=""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19.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19.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peg"/><Relationship Id="rId1" Type="http://schemas.openxmlformats.org/officeDocument/2006/relationships/slideLayout" Target="../slideLayouts/slideLayout19.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peg"/><Relationship Id="rId1" Type="http://schemas.openxmlformats.org/officeDocument/2006/relationships/slideLayout" Target="../slideLayouts/slideLayout19.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 xmlns:a16="http://schemas.microsoft.com/office/drawing/2014/main" id="{7201737A-B873-4D1D-8A41-5ABF5184BC8F}"/>
              </a:ext>
            </a:extLst>
          </p:cNvPr>
          <p:cNvSpPr>
            <a:spLocks noGrp="1"/>
          </p:cNvSpPr>
          <p:nvPr>
            <p:ph type="body" sz="quarter" idx="11"/>
          </p:nvPr>
        </p:nvSpPr>
        <p:spPr>
          <a:xfrm>
            <a:off x="193431" y="3566329"/>
            <a:ext cx="6180992" cy="861497"/>
          </a:xfrm>
        </p:spPr>
        <p:txBody>
          <a:bodyPr vert="horz" lIns="91440" tIns="45720" rIns="91440" bIns="45720" rtlCol="0" anchor="t">
            <a:normAutofit/>
          </a:bodyPr>
          <a:lstStyle/>
          <a:p>
            <a:pPr algn="r"/>
            <a:r>
              <a:rPr lang="en-IN" b="0" dirty="0" smtClean="0">
                <a:solidFill>
                  <a:schemeClr val="tx1"/>
                </a:solidFill>
                <a:latin typeface="Times New Roman" pitchFamily="18" charset="0"/>
                <a:cs typeface="Times New Roman" pitchFamily="18" charset="0"/>
              </a:rPr>
              <a:t>Student Name: </a:t>
            </a:r>
            <a:r>
              <a:rPr lang="en-IN" dirty="0" smtClean="0">
                <a:solidFill>
                  <a:schemeClr val="tx1"/>
                </a:solidFill>
                <a:latin typeface="Times New Roman" pitchFamily="18" charset="0"/>
                <a:cs typeface="Times New Roman" pitchFamily="18" charset="0"/>
              </a:rPr>
              <a:t>SHRIRAKSHA</a:t>
            </a:r>
          </a:p>
          <a:p>
            <a:pPr algn="r"/>
            <a:r>
              <a:rPr lang="en-IN" b="0" dirty="0" smtClean="0">
                <a:solidFill>
                  <a:schemeClr val="tx1"/>
                </a:solidFill>
                <a:latin typeface="Times New Roman" pitchFamily="18" charset="0"/>
                <a:cs typeface="Times New Roman" pitchFamily="18" charset="0"/>
              </a:rPr>
              <a:t>College Name: </a:t>
            </a:r>
            <a:r>
              <a:rPr lang="en-IN" dirty="0" smtClean="0">
                <a:solidFill>
                  <a:schemeClr val="tx1"/>
                </a:solidFill>
                <a:latin typeface="Times New Roman" pitchFamily="18" charset="0"/>
                <a:cs typeface="Times New Roman" pitchFamily="18" charset="0"/>
              </a:rPr>
              <a:t>AMC Engineering College</a:t>
            </a:r>
            <a:endParaRPr lang="en-IN" dirty="0">
              <a:solidFill>
                <a:schemeClr val="tx1"/>
              </a:solidFill>
              <a:latin typeface="Times New Roman" pitchFamily="18" charset="0"/>
              <a:cs typeface="Times New Roman" pitchFamily="18" charset="0"/>
            </a:endParaRPr>
          </a:p>
        </p:txBody>
      </p:sp>
      <p:sp>
        <p:nvSpPr>
          <p:cNvPr id="4" name="Title 3">
            <a:extLst>
              <a:ext uri="{FF2B5EF4-FFF2-40B4-BE49-F238E27FC236}">
                <a16:creationId xmlns="" xmlns:a16="http://schemas.microsoft.com/office/drawing/2014/main" id="{92056599-CDAA-4367-BEF8-31D6E32518C8}"/>
              </a:ext>
            </a:extLst>
          </p:cNvPr>
          <p:cNvSpPr>
            <a:spLocks noGrp="1"/>
          </p:cNvSpPr>
          <p:nvPr>
            <p:ph type="title"/>
          </p:nvPr>
        </p:nvSpPr>
        <p:spPr>
          <a:xfrm>
            <a:off x="678363" y="2844750"/>
            <a:ext cx="9705352" cy="743448"/>
          </a:xfrm>
        </p:spPr>
        <p:txBody>
          <a:bodyPr>
            <a:normAutofit fontScale="90000"/>
          </a:bodyPr>
          <a:lstStyle/>
          <a:p>
            <a:r>
              <a:rPr lang="en-GB" sz="3200" dirty="0">
                <a:latin typeface="Times New Roman" pitchFamily="18" charset="0"/>
                <a:cs typeface="Times New Roman" pitchFamily="18" charset="0"/>
              </a:rPr>
              <a:t>Project Title </a:t>
            </a:r>
            <a:r>
              <a:rPr lang="en-GB" sz="3200" dirty="0" smtClean="0">
                <a:latin typeface="Times New Roman" pitchFamily="18" charset="0"/>
                <a:cs typeface="Times New Roman" pitchFamily="18" charset="0"/>
              </a:rPr>
              <a:t>– </a:t>
            </a:r>
            <a:r>
              <a:rPr lang="en-GB" sz="3200" b="1" dirty="0" smtClean="0">
                <a:latin typeface="Times New Roman" pitchFamily="18" charset="0"/>
                <a:cs typeface="Times New Roman" pitchFamily="18" charset="0"/>
              </a:rPr>
              <a:t>Seasonal Agriculture Performance Analysis</a:t>
            </a:r>
            <a:endParaRPr lang="en-IN" sz="3200" b="1" dirty="0">
              <a:latin typeface="Times New Roman" pitchFamily="18" charset="0"/>
              <a:cs typeface="Times New Roman" pitchFamily="18" charset="0"/>
            </a:endParaRPr>
          </a:p>
        </p:txBody>
      </p:sp>
      <p:sp>
        <p:nvSpPr>
          <p:cNvPr id="15" name="Text Placeholder 1">
            <a:extLst>
              <a:ext uri="{FF2B5EF4-FFF2-40B4-BE49-F238E27FC236}">
                <a16:creationId xmlns=""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 xmlns:a16="http://schemas.microsoft.com/office/drawing/2014/main" id="{17F04107-8754-E47D-3375-529E689711FA}"/>
              </a:ext>
            </a:extLst>
          </p:cNvPr>
          <p:cNvSpPr txBox="1"/>
          <p:nvPr/>
        </p:nvSpPr>
        <p:spPr>
          <a:xfrm>
            <a:off x="957405" y="4576469"/>
            <a:ext cx="5874217" cy="369332"/>
          </a:xfrm>
          <a:prstGeom prst="rect">
            <a:avLst/>
          </a:prstGeom>
          <a:noFill/>
        </p:spPr>
        <p:txBody>
          <a:bodyPr wrap="square" rtlCol="0">
            <a:spAutoFit/>
          </a:bodyPr>
          <a:lstStyle/>
          <a:p>
            <a:r>
              <a:rPr lang="en-US" b="1" dirty="0">
                <a:latin typeface="Times New Roman" pitchFamily="18" charset="0"/>
                <a:cs typeface="Times New Roman" pitchFamily="18" charset="0"/>
              </a:rPr>
              <a:t>AICTE STU ID </a:t>
            </a:r>
            <a:r>
              <a:rPr lang="en-US" b="1" dirty="0" smtClean="0">
                <a:latin typeface="Times New Roman" pitchFamily="18" charset="0"/>
                <a:cs typeface="Times New Roman" pitchFamily="18" charset="0"/>
              </a:rPr>
              <a:t>: STU6a6b62e4de2d51785422564 </a:t>
            </a:r>
            <a:endParaRPr lang="en-US" b="1" dirty="0">
              <a:latin typeface="Times New Roman" pitchFamily="18" charset="0"/>
              <a:cs typeface="Times New Roman" pitchFamily="18" charset="0"/>
            </a:endParaRPr>
          </a:p>
        </p:txBody>
      </p:sp>
    </p:spTree>
    <p:extLst>
      <p:ext uri="{BB962C8B-B14F-4D97-AF65-F5344CB8AC3E}">
        <p14:creationId xmlns=""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777CC02B-F7C6-47A8-8C3E-C57C417D9EA3}"/>
              </a:ext>
            </a:extLst>
          </p:cNvPr>
          <p:cNvSpPr>
            <a:spLocks noGrp="1"/>
          </p:cNvSpPr>
          <p:nvPr>
            <p:ph type="title"/>
          </p:nvPr>
        </p:nvSpPr>
        <p:spPr>
          <a:xfrm>
            <a:off x="677334" y="609600"/>
            <a:ext cx="8596668" cy="849923"/>
          </a:xfrm>
        </p:spPr>
        <p:txBody>
          <a:bodyPr>
            <a:normAutofit/>
          </a:bodyPr>
          <a:lstStyle/>
          <a:p>
            <a:r>
              <a:rPr lang="en-US" b="1" dirty="0">
                <a:latin typeface="Times New Roman" pitchFamily="18" charset="0"/>
                <a:cs typeface="Times New Roman" pitchFamily="18" charset="0"/>
              </a:rPr>
              <a:t>PROBLEM  STATEMENT</a:t>
            </a:r>
            <a:endParaRPr lang="en-IN" b="1" dirty="0">
              <a:latin typeface="Times New Roman" pitchFamily="18" charset="0"/>
              <a:cs typeface="Times New Roman" pitchFamily="18" charset="0"/>
            </a:endParaRPr>
          </a:p>
        </p:txBody>
      </p:sp>
      <p:sp>
        <p:nvSpPr>
          <p:cNvPr id="2" name="Text Placeholder 1">
            <a:extLst>
              <a:ext uri="{FF2B5EF4-FFF2-40B4-BE49-F238E27FC236}">
                <a16:creationId xmlns="" xmlns:a16="http://schemas.microsoft.com/office/drawing/2014/main" id="{E46E4DD1-270B-4C80-AFF0-EB26F132AF36}"/>
              </a:ext>
            </a:extLst>
          </p:cNvPr>
          <p:cNvSpPr>
            <a:spLocks noGrp="1"/>
          </p:cNvSpPr>
          <p:nvPr>
            <p:ph idx="1"/>
          </p:nvPr>
        </p:nvSpPr>
        <p:spPr>
          <a:xfrm>
            <a:off x="677334" y="1521069"/>
            <a:ext cx="8596668" cy="4520293"/>
          </a:xfrm>
        </p:spPr>
        <p:txBody>
          <a:bodyPr vert="horz" lIns="91440" tIns="45720" rIns="91440" bIns="45720" rtlCol="0" anchor="t">
            <a:normAutofit fontScale="55000" lnSpcReduction="20000"/>
          </a:bodyPr>
          <a:lstStyle/>
          <a:p>
            <a:pPr>
              <a:lnSpc>
                <a:spcPct val="150000"/>
              </a:lnSpc>
              <a:buNone/>
            </a:pPr>
            <a:r>
              <a:rPr lang="en-US" sz="2800" dirty="0" smtClean="0">
                <a:latin typeface="Times New Roman" pitchFamily="18" charset="0"/>
                <a:cs typeface="Times New Roman" pitchFamily="18" charset="0"/>
              </a:rPr>
              <a:t>Agricultural activities are influenced by seasonal variations in environmental conditions, </a:t>
            </a:r>
          </a:p>
          <a:p>
            <a:pPr>
              <a:lnSpc>
                <a:spcPct val="150000"/>
              </a:lnSpc>
              <a:buNone/>
            </a:pPr>
            <a:r>
              <a:rPr lang="en-US" sz="2800" dirty="0" smtClean="0">
                <a:latin typeface="Times New Roman" pitchFamily="18" charset="0"/>
                <a:cs typeface="Times New Roman" pitchFamily="18" charset="0"/>
              </a:rPr>
              <a:t>farming practices, resource availability and market conditions. As a result, agricultural </a:t>
            </a:r>
          </a:p>
          <a:p>
            <a:pPr>
              <a:lnSpc>
                <a:spcPct val="150000"/>
              </a:lnSpc>
              <a:buNone/>
            </a:pPr>
            <a:r>
              <a:rPr lang="en-US" sz="2800" dirty="0" smtClean="0">
                <a:latin typeface="Times New Roman" pitchFamily="18" charset="0"/>
                <a:cs typeface="Times New Roman" pitchFamily="18" charset="0"/>
              </a:rPr>
              <a:t>performance may differ from one season to another. </a:t>
            </a:r>
          </a:p>
          <a:p>
            <a:pPr>
              <a:lnSpc>
                <a:spcPct val="150000"/>
              </a:lnSpc>
              <a:buNone/>
            </a:pPr>
            <a:r>
              <a:rPr lang="en-US" sz="2800" dirty="0" smtClean="0">
                <a:latin typeface="Times New Roman" pitchFamily="18" charset="0"/>
                <a:cs typeface="Times New Roman" pitchFamily="18" charset="0"/>
              </a:rPr>
              <a:t>However, raw agricultural data does not clearly explain how agricultural performance changes </a:t>
            </a:r>
          </a:p>
          <a:p>
            <a:pPr>
              <a:lnSpc>
                <a:spcPct val="150000"/>
              </a:lnSpc>
              <a:buNone/>
            </a:pPr>
            <a:r>
              <a:rPr lang="en-US" sz="2800" dirty="0" smtClean="0">
                <a:latin typeface="Times New Roman" pitchFamily="18" charset="0"/>
                <a:cs typeface="Times New Roman" pitchFamily="18" charset="0"/>
              </a:rPr>
              <a:t>across seasons or what patterns can be observed in different seasonal conditions. </a:t>
            </a:r>
          </a:p>
          <a:p>
            <a:pPr>
              <a:lnSpc>
                <a:spcPct val="150000"/>
              </a:lnSpc>
              <a:buNone/>
            </a:pPr>
            <a:r>
              <a:rPr lang="en-US" sz="2800" dirty="0" smtClean="0">
                <a:latin typeface="Times New Roman" pitchFamily="18" charset="0"/>
                <a:cs typeface="Times New Roman" pitchFamily="18" charset="0"/>
              </a:rPr>
              <a:t>The problem is to analyze the given agricultural dataset and investigate seasonal differences </a:t>
            </a:r>
          </a:p>
          <a:p>
            <a:pPr>
              <a:lnSpc>
                <a:spcPct val="150000"/>
              </a:lnSpc>
              <a:buNone/>
            </a:pPr>
            <a:r>
              <a:rPr lang="en-US" sz="2800" dirty="0" smtClean="0">
                <a:latin typeface="Times New Roman" pitchFamily="18" charset="0"/>
                <a:cs typeface="Times New Roman" pitchFamily="18" charset="0"/>
              </a:rPr>
              <a:t>in agricultural performance by identifying meaningful patterns, trends, relationships and </a:t>
            </a:r>
          </a:p>
          <a:p>
            <a:pPr>
              <a:lnSpc>
                <a:spcPct val="150000"/>
              </a:lnSpc>
              <a:buNone/>
            </a:pPr>
            <a:r>
              <a:rPr lang="en-US" sz="2800" dirty="0" smtClean="0">
                <a:latin typeface="Times New Roman" pitchFamily="18" charset="0"/>
                <a:cs typeface="Times New Roman" pitchFamily="18" charset="0"/>
              </a:rPr>
              <a:t>variations within the available data.</a:t>
            </a:r>
            <a:endParaRPr lang="en-IN" sz="2800" dirty="0">
              <a:latin typeface="Times New Roman" pitchFamily="18" charset="0"/>
              <a:cs typeface="Times New Roman" pitchFamily="18" charset="0"/>
            </a:endParaRPr>
          </a:p>
        </p:txBody>
      </p:sp>
      <p:pic>
        <p:nvPicPr>
          <p:cNvPr id="5" name="Picture 4">
            <a:extLst>
              <a:ext uri="{FF2B5EF4-FFF2-40B4-BE49-F238E27FC236}">
                <a16:creationId xmlns=""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7" end="7"/>
                                            </p:txEl>
                                          </p:spTgt>
                                        </p:tgtEl>
                                        <p:attrNameLst>
                                          <p:attrName>style.visibility</p:attrName>
                                        </p:attrNameLst>
                                      </p:cBhvr>
                                      <p:to>
                                        <p:strVal val="visible"/>
                                      </p:to>
                                    </p:set>
                                    <p:animEffect transition="in" filter="fade">
                                      <p:cBhvr>
                                        <p:cTn id="63" dur="1000"/>
                                        <p:tgtEl>
                                          <p:spTgt spid="2">
                                            <p:txEl>
                                              <p:pRg st="7" end="7"/>
                                            </p:txEl>
                                          </p:spTgt>
                                        </p:tgtEl>
                                      </p:cBhvr>
                                    </p:animEffect>
                                    <p:anim calcmode="lin" valueType="num">
                                      <p:cBhvr>
                                        <p:cTn id="6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EBF2FBC7-3552-4F01-BB27-8BEEE74F7277}"/>
              </a:ext>
            </a:extLst>
          </p:cNvPr>
          <p:cNvSpPr>
            <a:spLocks noGrp="1"/>
          </p:cNvSpPr>
          <p:nvPr>
            <p:ph type="title"/>
          </p:nvPr>
        </p:nvSpPr>
        <p:spPr/>
        <p:txBody>
          <a:bodyPr>
            <a:normAutofit/>
          </a:bodyPr>
          <a:lstStyle/>
          <a:p>
            <a:r>
              <a:rPr lang="en-GB" b="1" dirty="0" smtClean="0">
                <a:latin typeface="Times New Roman" pitchFamily="18" charset="0"/>
                <a:cs typeface="Times New Roman" pitchFamily="18" charset="0"/>
              </a:rPr>
              <a:t>PROJECT DESCRIPTION</a:t>
            </a:r>
            <a:r>
              <a:rPr lang="en-GB" dirty="0"/>
              <a:t/>
            </a:r>
            <a:br>
              <a:rPr lang="en-GB" dirty="0"/>
            </a:br>
            <a:endParaRPr lang="en-IN" dirty="0"/>
          </a:p>
        </p:txBody>
      </p:sp>
      <p:sp>
        <p:nvSpPr>
          <p:cNvPr id="11" name="Content Placeholder 10"/>
          <p:cNvSpPr>
            <a:spLocks noGrp="1"/>
          </p:cNvSpPr>
          <p:nvPr>
            <p:ph idx="1"/>
          </p:nvPr>
        </p:nvSpPr>
        <p:spPr>
          <a:xfrm>
            <a:off x="677334" y="1573823"/>
            <a:ext cx="8596668" cy="4467539"/>
          </a:xfrm>
        </p:spPr>
        <p:txBody>
          <a:bodyPr>
            <a:normAutofit fontScale="92500" lnSpcReduction="20000"/>
          </a:bodyPr>
          <a:lstStyle/>
          <a:p>
            <a:pPr>
              <a:lnSpc>
                <a:spcPct val="140000"/>
              </a:lnSpc>
              <a:buNone/>
            </a:pPr>
            <a:r>
              <a:rPr lang="en-US" dirty="0" smtClean="0"/>
              <a:t>     </a:t>
            </a:r>
            <a:r>
              <a:rPr lang="en-US" dirty="0" smtClean="0">
                <a:latin typeface="Times New Roman" pitchFamily="18" charset="0"/>
                <a:cs typeface="Times New Roman" pitchFamily="18" charset="0"/>
              </a:rPr>
              <a:t>Seasonal Agriculture Performance Analysis is a Data Analytics project that analyzes agricultural performance across </a:t>
            </a:r>
            <a:r>
              <a:rPr lang="en-US" dirty="0" err="1" smtClean="0">
                <a:latin typeface="Times New Roman" pitchFamily="18" charset="0"/>
                <a:cs typeface="Times New Roman" pitchFamily="18" charset="0"/>
              </a:rPr>
              <a:t>Kharif</a:t>
            </a:r>
            <a:r>
              <a:rPr lang="en-US" dirty="0" smtClean="0">
                <a:latin typeface="Times New Roman" pitchFamily="18" charset="0"/>
                <a:cs typeface="Times New Roman" pitchFamily="18" charset="0"/>
              </a:rPr>
              <a:t>, Rabi, and </a:t>
            </a:r>
            <a:r>
              <a:rPr lang="en-US" dirty="0" err="1" smtClean="0">
                <a:latin typeface="Times New Roman" pitchFamily="18" charset="0"/>
                <a:cs typeface="Times New Roman" pitchFamily="18" charset="0"/>
              </a:rPr>
              <a:t>Zaid</a:t>
            </a:r>
            <a:r>
              <a:rPr lang="en-US" dirty="0" smtClean="0">
                <a:latin typeface="Times New Roman" pitchFamily="18" charset="0"/>
                <a:cs typeface="Times New Roman" pitchFamily="18" charset="0"/>
              </a:rPr>
              <a:t> seasons. The project examines crop yield, production, environmental conditions, resource usage, disease and pest risk, and economic performance. Regional and crop-wise comparisons are performed to identify seasonal patterns, variations, and meaningful insights. Python, Pandas, </a:t>
            </a:r>
            <a:r>
              <a:rPr lang="en-US" dirty="0" err="1" smtClean="0">
                <a:latin typeface="Times New Roman" pitchFamily="18" charset="0"/>
                <a:cs typeface="Times New Roman" pitchFamily="18" charset="0"/>
              </a:rPr>
              <a:t>Matplotlib</a:t>
            </a:r>
            <a:r>
              <a:rPr lang="en-US" dirty="0" smtClean="0">
                <a:latin typeface="Times New Roman" pitchFamily="18" charset="0"/>
                <a:cs typeface="Times New Roman" pitchFamily="18" charset="0"/>
              </a:rPr>
              <a:t>, and Google </a:t>
            </a:r>
            <a:r>
              <a:rPr lang="en-US" dirty="0" err="1" smtClean="0">
                <a:latin typeface="Times New Roman" pitchFamily="18" charset="0"/>
                <a:cs typeface="Times New Roman" pitchFamily="18" charset="0"/>
              </a:rPr>
              <a:t>Colab</a:t>
            </a:r>
            <a:r>
              <a:rPr lang="en-US" dirty="0" smtClean="0">
                <a:latin typeface="Times New Roman" pitchFamily="18" charset="0"/>
                <a:cs typeface="Times New Roman" pitchFamily="18" charset="0"/>
              </a:rPr>
              <a:t> are used for data cleaning, analysis, and visualization to support better seasonal agricultural planning.</a:t>
            </a:r>
          </a:p>
          <a:p>
            <a:pPr>
              <a:lnSpc>
                <a:spcPct val="140000"/>
              </a:lnSpc>
              <a:buNone/>
            </a:pPr>
            <a:r>
              <a:rPr lang="en-US" dirty="0" smtClean="0">
                <a:latin typeface="Times New Roman" pitchFamily="18" charset="0"/>
                <a:cs typeface="Times New Roman" pitchFamily="18" charset="0"/>
              </a:rPr>
              <a:t>     The analysis helps identify differences in agricultural performance between seasons and regions and highlights important factors affecting overall outcomes. The findings reveal variations in productivity, profitability, environmental conditions, water usage, and disease or pest risk. These insights provide a better understanding of seasonal agricultural patterns and can be useful for making informed decisions regarding crop selection, resource utilization, and seasonal farm planning.</a:t>
            </a:r>
            <a:endParaRPr lang="en-US" dirty="0">
              <a:latin typeface="Times New Roman" pitchFamily="18" charset="0"/>
              <a:cs typeface="Times New Roman" pitchFamily="18" charset="0"/>
            </a:endParaRPr>
          </a:p>
        </p:txBody>
      </p:sp>
      <p:pic>
        <p:nvPicPr>
          <p:cNvPr id="5" name="Picture 4">
            <a:extLst>
              <a:ext uri="{FF2B5EF4-FFF2-40B4-BE49-F238E27FC236}">
                <a16:creationId xmlns=""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 xmlns:a16="http://schemas.microsoft.com/office/drawing/2014/main" id="{664E3B60-2780-459A-8583-F095D5E7463A}"/>
              </a:ext>
            </a:extLst>
          </p:cNvPr>
          <p:cNvSpPr>
            <a:spLocks noGrp="1"/>
          </p:cNvSpPr>
          <p:nvPr>
            <p:ph type="body" sz="quarter" idx="12"/>
          </p:nvPr>
        </p:nvSpPr>
        <p:spPr>
          <a:xfrm>
            <a:off x="721360" y="1991360"/>
            <a:ext cx="8501772" cy="3990023"/>
          </a:xfrm>
        </p:spPr>
        <p:txBody>
          <a:bodyPr>
            <a:normAutofit fontScale="55000" lnSpcReduction="20000"/>
          </a:bodyPr>
          <a:lstStyle/>
          <a:p>
            <a:pPr algn="just">
              <a:lnSpc>
                <a:spcPct val="150000"/>
              </a:lnSpc>
              <a:buNone/>
            </a:pPr>
            <a:r>
              <a:rPr lang="en-US" sz="3600" dirty="0" smtClean="0"/>
              <a:t>    </a:t>
            </a:r>
            <a:r>
              <a:rPr lang="en-US" sz="3600" dirty="0" smtClean="0">
                <a:latin typeface="Times New Roman" pitchFamily="18" charset="0"/>
                <a:cs typeface="Times New Roman" pitchFamily="18" charset="0"/>
              </a:rPr>
              <a:t>The main end users of the Seasonal Agriculture Performance Analysis project are:</a:t>
            </a:r>
          </a:p>
          <a:p>
            <a:pPr algn="just">
              <a:lnSpc>
                <a:spcPct val="150000"/>
              </a:lnSpc>
              <a:buFont typeface="Arial" pitchFamily="34" charset="0"/>
              <a:buChar char="•"/>
            </a:pPr>
            <a:r>
              <a:rPr lang="en-US" sz="3600" dirty="0" smtClean="0">
                <a:latin typeface="Times New Roman" pitchFamily="18" charset="0"/>
                <a:cs typeface="Times New Roman" pitchFamily="18" charset="0"/>
              </a:rPr>
              <a:t>    </a:t>
            </a:r>
            <a:r>
              <a:rPr lang="en-US" sz="3600" b="1" dirty="0" smtClean="0">
                <a:latin typeface="Times New Roman" pitchFamily="18" charset="0"/>
                <a:cs typeface="Times New Roman" pitchFamily="18" charset="0"/>
              </a:rPr>
              <a:t>Farmers</a:t>
            </a:r>
            <a:r>
              <a:rPr lang="en-US" sz="3600" dirty="0" smtClean="0">
                <a:latin typeface="Times New Roman" pitchFamily="18" charset="0"/>
                <a:cs typeface="Times New Roman" pitchFamily="18" charset="0"/>
              </a:rPr>
              <a:t> – to understand seasonal crop performance and resource usage.</a:t>
            </a:r>
          </a:p>
          <a:p>
            <a:pPr algn="just">
              <a:lnSpc>
                <a:spcPct val="150000"/>
              </a:lnSpc>
              <a:buFont typeface="Arial" pitchFamily="34" charset="0"/>
              <a:buChar char="•"/>
            </a:pPr>
            <a:r>
              <a:rPr lang="en-US" sz="3600" dirty="0" smtClean="0">
                <a:latin typeface="Times New Roman" pitchFamily="18" charset="0"/>
                <a:cs typeface="Times New Roman" pitchFamily="18" charset="0"/>
              </a:rPr>
              <a:t>    </a:t>
            </a:r>
            <a:r>
              <a:rPr lang="en-US" sz="3600" b="1" dirty="0" smtClean="0">
                <a:latin typeface="Times New Roman" pitchFamily="18" charset="0"/>
                <a:cs typeface="Times New Roman" pitchFamily="18" charset="0"/>
              </a:rPr>
              <a:t>Agricultural planners </a:t>
            </a:r>
            <a:r>
              <a:rPr lang="en-US" sz="3600" dirty="0" smtClean="0">
                <a:latin typeface="Times New Roman" pitchFamily="18" charset="0"/>
                <a:cs typeface="Times New Roman" pitchFamily="18" charset="0"/>
              </a:rPr>
              <a:t>– to support seasonal agricultural planning.</a:t>
            </a:r>
          </a:p>
          <a:p>
            <a:pPr algn="just">
              <a:lnSpc>
                <a:spcPct val="150000"/>
              </a:lnSpc>
              <a:buFont typeface="Arial" pitchFamily="34" charset="0"/>
              <a:buChar char="•"/>
            </a:pPr>
            <a:r>
              <a:rPr lang="en-US" sz="3600" dirty="0" smtClean="0">
                <a:latin typeface="Times New Roman" pitchFamily="18" charset="0"/>
                <a:cs typeface="Times New Roman" pitchFamily="18" charset="0"/>
              </a:rPr>
              <a:t>    </a:t>
            </a:r>
            <a:r>
              <a:rPr lang="en-US" sz="3600" b="1" dirty="0" smtClean="0">
                <a:latin typeface="Times New Roman" pitchFamily="18" charset="0"/>
                <a:cs typeface="Times New Roman" pitchFamily="18" charset="0"/>
              </a:rPr>
              <a:t>Agricultural officers </a:t>
            </a:r>
            <a:r>
              <a:rPr lang="en-US" sz="3600" dirty="0" smtClean="0">
                <a:latin typeface="Times New Roman" pitchFamily="18" charset="0"/>
                <a:cs typeface="Times New Roman" pitchFamily="18" charset="0"/>
              </a:rPr>
              <a:t>– to analyze regional and seasonal variations.</a:t>
            </a:r>
          </a:p>
          <a:p>
            <a:pPr algn="just">
              <a:lnSpc>
                <a:spcPct val="150000"/>
              </a:lnSpc>
              <a:buFont typeface="Arial" pitchFamily="34" charset="0"/>
              <a:buChar char="•"/>
            </a:pPr>
            <a:r>
              <a:rPr lang="en-US" sz="3600" dirty="0" smtClean="0">
                <a:latin typeface="Times New Roman" pitchFamily="18" charset="0"/>
                <a:cs typeface="Times New Roman" pitchFamily="18" charset="0"/>
              </a:rPr>
              <a:t>    </a:t>
            </a:r>
            <a:r>
              <a:rPr lang="en-US" sz="3600" b="1" dirty="0" smtClean="0">
                <a:latin typeface="Times New Roman" pitchFamily="18" charset="0"/>
                <a:cs typeface="Times New Roman" pitchFamily="18" charset="0"/>
              </a:rPr>
              <a:t>Researchers and students </a:t>
            </a:r>
            <a:r>
              <a:rPr lang="en-US" sz="3600" dirty="0" smtClean="0">
                <a:latin typeface="Times New Roman" pitchFamily="18" charset="0"/>
                <a:cs typeface="Times New Roman" pitchFamily="18" charset="0"/>
              </a:rPr>
              <a:t>– to study agricultural patterns and trends.</a:t>
            </a:r>
          </a:p>
          <a:p>
            <a:pPr algn="just">
              <a:lnSpc>
                <a:spcPct val="150000"/>
              </a:lnSpc>
              <a:buFont typeface="Arial" pitchFamily="34" charset="0"/>
              <a:buChar char="•"/>
            </a:pPr>
            <a:r>
              <a:rPr lang="en-US" sz="3600" dirty="0" smtClean="0">
                <a:latin typeface="Times New Roman" pitchFamily="18" charset="0"/>
                <a:cs typeface="Times New Roman" pitchFamily="18" charset="0"/>
              </a:rPr>
              <a:t>    </a:t>
            </a:r>
            <a:r>
              <a:rPr lang="en-US" sz="3600" b="1" dirty="0" smtClean="0">
                <a:latin typeface="Times New Roman" pitchFamily="18" charset="0"/>
                <a:cs typeface="Times New Roman" pitchFamily="18" charset="0"/>
              </a:rPr>
              <a:t>Government and agricultural organizations </a:t>
            </a:r>
            <a:r>
              <a:rPr lang="en-US" sz="3600" dirty="0" smtClean="0">
                <a:latin typeface="Times New Roman" pitchFamily="18" charset="0"/>
                <a:cs typeface="Times New Roman" pitchFamily="18" charset="0"/>
              </a:rPr>
              <a:t>– to support data-driven                         agricultural decisions.</a:t>
            </a:r>
            <a:endParaRPr lang="en-IN" sz="3600" dirty="0">
              <a:latin typeface="Times New Roman" pitchFamily="18" charset="0"/>
              <a:cs typeface="Times New Roman" pitchFamily="18" charset="0"/>
            </a:endParaRPr>
          </a:p>
        </p:txBody>
      </p:sp>
      <p:sp>
        <p:nvSpPr>
          <p:cNvPr id="4" name="Title 3">
            <a:extLst>
              <a:ext uri="{FF2B5EF4-FFF2-40B4-BE49-F238E27FC236}">
                <a16:creationId xmlns=""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latin typeface="Times New Roman" pitchFamily="18" charset="0"/>
                <a:cs typeface="Times New Roman" pitchFamily="18" charset="0"/>
              </a:rPr>
              <a:t>WHO ARE THE END USERS?</a:t>
            </a:r>
            <a:endParaRPr lang="en-IN" sz="2000" dirty="0">
              <a:latin typeface="Times New Roman" pitchFamily="18" charset="0"/>
              <a:cs typeface="Times New Roman" pitchFamily="18" charset="0"/>
            </a:endParaRPr>
          </a:p>
        </p:txBody>
      </p:sp>
      <p:pic>
        <p:nvPicPr>
          <p:cNvPr id="6" name="Picture 5">
            <a:extLst>
              <a:ext uri="{FF2B5EF4-FFF2-40B4-BE49-F238E27FC236}">
                <a16:creationId xmlns=""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r>
              <a:rPr lang="en-IN" b="1" dirty="0" smtClean="0">
                <a:latin typeface="Times New Roman" pitchFamily="18" charset="0"/>
                <a:cs typeface="Times New Roman" pitchFamily="18" charset="0"/>
              </a:rPr>
              <a:t>Python</a:t>
            </a:r>
            <a:r>
              <a:rPr lang="en-IN" dirty="0" smtClean="0">
                <a:latin typeface="Times New Roman" pitchFamily="18" charset="0"/>
                <a:cs typeface="Times New Roman" pitchFamily="18" charset="0"/>
              </a:rPr>
              <a:t> – Main programming language for data analysis.</a:t>
            </a:r>
          </a:p>
          <a:p>
            <a:pPr lvl="1">
              <a:lnSpc>
                <a:spcPct val="150000"/>
              </a:lnSpc>
            </a:pPr>
            <a:r>
              <a:rPr lang="en-IN" b="1" dirty="0" smtClean="0">
                <a:latin typeface="Times New Roman" pitchFamily="18" charset="0"/>
                <a:cs typeface="Times New Roman" pitchFamily="18" charset="0"/>
              </a:rPr>
              <a:t>Pandas</a:t>
            </a:r>
            <a:r>
              <a:rPr lang="en-IN" dirty="0" smtClean="0">
                <a:latin typeface="Times New Roman" pitchFamily="18" charset="0"/>
                <a:cs typeface="Times New Roman" pitchFamily="18" charset="0"/>
              </a:rPr>
              <a:t> – Data cleaning, manipulation, and analysis.</a:t>
            </a:r>
          </a:p>
          <a:p>
            <a:pPr lvl="1">
              <a:lnSpc>
                <a:spcPct val="150000"/>
              </a:lnSpc>
            </a:pPr>
            <a:r>
              <a:rPr lang="en-IN" b="1" dirty="0" err="1" smtClean="0">
                <a:latin typeface="Times New Roman" pitchFamily="18" charset="0"/>
                <a:cs typeface="Times New Roman" pitchFamily="18" charset="0"/>
              </a:rPr>
              <a:t>NumPy</a:t>
            </a:r>
            <a:r>
              <a:rPr lang="en-IN" dirty="0" smtClean="0">
                <a:latin typeface="Times New Roman" pitchFamily="18" charset="0"/>
                <a:cs typeface="Times New Roman" pitchFamily="18" charset="0"/>
              </a:rPr>
              <a:t> – Numerical calculations and statistical operations.</a:t>
            </a:r>
          </a:p>
          <a:p>
            <a:pPr lvl="1">
              <a:lnSpc>
                <a:spcPct val="150000"/>
              </a:lnSpc>
            </a:pPr>
            <a:r>
              <a:rPr lang="en-IN" b="1" dirty="0" err="1" smtClean="0">
                <a:latin typeface="Times New Roman" pitchFamily="18" charset="0"/>
                <a:cs typeface="Times New Roman" pitchFamily="18" charset="0"/>
              </a:rPr>
              <a:t>Matplotlib</a:t>
            </a:r>
            <a:r>
              <a:rPr lang="en-IN" b="1" dirty="0" smtClean="0">
                <a:latin typeface="Times New Roman" pitchFamily="18" charset="0"/>
                <a:cs typeface="Times New Roman" pitchFamily="18" charset="0"/>
              </a:rPr>
              <a:t> </a:t>
            </a:r>
            <a:r>
              <a:rPr lang="en-IN" dirty="0" smtClean="0">
                <a:latin typeface="Times New Roman" pitchFamily="18" charset="0"/>
                <a:cs typeface="Times New Roman" pitchFamily="18" charset="0"/>
              </a:rPr>
              <a:t>– Creating charts and visualizations.</a:t>
            </a:r>
          </a:p>
          <a:p>
            <a:pPr lvl="1">
              <a:lnSpc>
                <a:spcPct val="150000"/>
              </a:lnSpc>
            </a:pPr>
            <a:r>
              <a:rPr lang="en-IN" b="1" dirty="0" err="1" smtClean="0">
                <a:latin typeface="Times New Roman" pitchFamily="18" charset="0"/>
                <a:cs typeface="Times New Roman" pitchFamily="18" charset="0"/>
              </a:rPr>
              <a:t>Seaborn</a:t>
            </a:r>
            <a:r>
              <a:rPr lang="en-IN" dirty="0" smtClean="0">
                <a:latin typeface="Times New Roman" pitchFamily="18" charset="0"/>
                <a:cs typeface="Times New Roman" pitchFamily="18" charset="0"/>
              </a:rPr>
              <a:t> – Creating informative statistical graphs and visualizations.</a:t>
            </a:r>
          </a:p>
          <a:p>
            <a:pPr lvl="1">
              <a:lnSpc>
                <a:spcPct val="150000"/>
              </a:lnSpc>
            </a:pPr>
            <a:r>
              <a:rPr lang="en-IN" b="1" dirty="0" smtClean="0">
                <a:latin typeface="Times New Roman" pitchFamily="18" charset="0"/>
                <a:cs typeface="Times New Roman" pitchFamily="18" charset="0"/>
              </a:rPr>
              <a:t>Google </a:t>
            </a:r>
            <a:r>
              <a:rPr lang="en-IN" b="1" dirty="0" err="1" smtClean="0">
                <a:latin typeface="Times New Roman" pitchFamily="18" charset="0"/>
                <a:cs typeface="Times New Roman" pitchFamily="18" charset="0"/>
              </a:rPr>
              <a:t>Colab</a:t>
            </a:r>
            <a:r>
              <a:rPr lang="en-IN" b="1" dirty="0" smtClean="0">
                <a:latin typeface="Times New Roman" pitchFamily="18" charset="0"/>
                <a:cs typeface="Times New Roman" pitchFamily="18" charset="0"/>
              </a:rPr>
              <a:t> </a:t>
            </a:r>
            <a:r>
              <a:rPr lang="en-IN" dirty="0" smtClean="0">
                <a:latin typeface="Times New Roman" pitchFamily="18" charset="0"/>
                <a:cs typeface="Times New Roman" pitchFamily="18" charset="0"/>
              </a:rPr>
              <a:t>– Development and execution environment.</a:t>
            </a:r>
          </a:p>
          <a:p>
            <a:pPr lvl="1">
              <a:lnSpc>
                <a:spcPct val="150000"/>
              </a:lnSpc>
            </a:pPr>
            <a:r>
              <a:rPr lang="en-IN" b="1" dirty="0" err="1" smtClean="0">
                <a:latin typeface="Times New Roman" pitchFamily="18" charset="0"/>
                <a:cs typeface="Times New Roman" pitchFamily="18" charset="0"/>
              </a:rPr>
              <a:t>Jupyter</a:t>
            </a:r>
            <a:r>
              <a:rPr lang="en-IN" b="1" dirty="0" smtClean="0">
                <a:latin typeface="Times New Roman" pitchFamily="18" charset="0"/>
                <a:cs typeface="Times New Roman" pitchFamily="18" charset="0"/>
              </a:rPr>
              <a:t> Notebook </a:t>
            </a:r>
            <a:r>
              <a:rPr lang="en-IN" dirty="0" smtClean="0">
                <a:latin typeface="Times New Roman" pitchFamily="18" charset="0"/>
                <a:cs typeface="Times New Roman" pitchFamily="18" charset="0"/>
              </a:rPr>
              <a:t>– Organizing code, analysis, results, and observations.</a:t>
            </a:r>
            <a:endParaRPr lang="en-IN" dirty="0">
              <a:latin typeface="Times New Roman" pitchFamily="18" charset="0"/>
              <a:cs typeface="Times New Roman" pitchFamily="18" charset="0"/>
            </a:endParaRPr>
          </a:p>
        </p:txBody>
      </p:sp>
      <p:sp>
        <p:nvSpPr>
          <p:cNvPr id="9" name="Title 8">
            <a:extLst>
              <a:ext uri="{FF2B5EF4-FFF2-40B4-BE49-F238E27FC236}">
                <a16:creationId xmlns="" xmlns:a16="http://schemas.microsoft.com/office/drawing/2014/main" id="{FEF304F5-32C5-4869-B185-859B567855A8}"/>
              </a:ext>
            </a:extLst>
          </p:cNvPr>
          <p:cNvSpPr>
            <a:spLocks noGrp="1"/>
          </p:cNvSpPr>
          <p:nvPr>
            <p:ph type="title"/>
          </p:nvPr>
        </p:nvSpPr>
        <p:spPr>
          <a:xfrm>
            <a:off x="660399" y="430567"/>
            <a:ext cx="7138378" cy="847817"/>
          </a:xfrm>
        </p:spPr>
        <p:txBody>
          <a:bodyPr>
            <a:normAutofit/>
          </a:bodyPr>
          <a:lstStyle/>
          <a:p>
            <a:r>
              <a:rPr lang="en-US" dirty="0" smtClean="0">
                <a:latin typeface="Times New Roman" pitchFamily="18" charset="0"/>
                <a:cs typeface="Times New Roman" pitchFamily="18" charset="0"/>
              </a:rPr>
              <a:t>TECHNOLOGY USED</a:t>
            </a:r>
            <a:endParaRPr lang="en-US" dirty="0">
              <a:latin typeface="Times New Roman" pitchFamily="18" charset="0"/>
              <a:cs typeface="Times New Roman" pitchFamily="18" charset="0"/>
            </a:endParaRPr>
          </a:p>
        </p:txBody>
      </p:sp>
    </p:spTree>
    <p:extLst>
      <p:ext uri="{BB962C8B-B14F-4D97-AF65-F5344CB8AC3E}">
        <p14:creationId xmlns=""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smtClean="0">
                <a:latin typeface="Times New Roman" pitchFamily="18" charset="0"/>
                <a:cs typeface="Times New Roman" pitchFamily="18" charset="0"/>
              </a:rPr>
              <a:t>RESULTS </a:t>
            </a:r>
            <a:endParaRPr lang="en-IN" dirty="0">
              <a:latin typeface="Times New Roman" pitchFamily="18" charset="0"/>
              <a:cs typeface="Times New Roman" pitchFamily="18" charset="0"/>
            </a:endParaRPr>
          </a:p>
        </p:txBody>
      </p:sp>
      <p:sp>
        <p:nvSpPr>
          <p:cNvPr id="7" name="Text Placeholder 30">
            <a:extLst>
              <a:ext uri="{FF2B5EF4-FFF2-40B4-BE49-F238E27FC236}">
                <a16:creationId xmlns=""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 xmlns:a16="http://schemas.microsoft.com/office/drawing/2014/main" id="{B19D8AC7-3787-4ADB-9212-0808F015C2DD}"/>
              </a:ext>
            </a:extLst>
          </p:cNvPr>
          <p:cNvSpPr>
            <a:spLocks noGrp="1"/>
          </p:cNvSpPr>
          <p:nvPr>
            <p:ph type="body" sz="quarter" idx="12"/>
          </p:nvPr>
        </p:nvSpPr>
        <p:spPr>
          <a:xfrm>
            <a:off x="509955" y="4387362"/>
            <a:ext cx="4870938" cy="1494692"/>
          </a:xfrm>
        </p:spPr>
        <p:txBody>
          <a:bodyPr vert="horz" lIns="91440" tIns="45720" rIns="91440" bIns="45720" rtlCol="0" anchor="t">
            <a:normAutofit/>
          </a:bodyPr>
          <a:lstStyle/>
          <a:p>
            <a:pPr marL="0" indent="0">
              <a:buNone/>
            </a:pPr>
            <a:r>
              <a:rPr lang="en-US" sz="1600" dirty="0" smtClean="0">
                <a:latin typeface="Times New Roman" pitchFamily="18" charset="0"/>
                <a:cs typeface="Times New Roman" pitchFamily="18" charset="0"/>
              </a:rPr>
              <a:t>The bar chart shows missing data across three agricultural features: </a:t>
            </a:r>
            <a:r>
              <a:rPr lang="en-US" sz="1600" dirty="0" err="1" smtClean="0">
                <a:latin typeface="Times New Roman" pitchFamily="18" charset="0"/>
                <a:cs typeface="Times New Roman" pitchFamily="18" charset="0"/>
              </a:rPr>
              <a:t>Rainfall_mm</a:t>
            </a:r>
            <a:r>
              <a:rPr lang="en-US" sz="1600" dirty="0" smtClean="0">
                <a:latin typeface="Times New Roman" pitchFamily="18" charset="0"/>
                <a:cs typeface="Times New Roman" pitchFamily="18" charset="0"/>
              </a:rPr>
              <a:t> has the highest count at nearly 48 missing values, followed by </a:t>
            </a:r>
            <a:r>
              <a:rPr lang="en-US" sz="1600" dirty="0" err="1" smtClean="0">
                <a:latin typeface="Times New Roman" pitchFamily="18" charset="0"/>
                <a:cs typeface="Times New Roman" pitchFamily="18" charset="0"/>
              </a:rPr>
              <a:t>Soil_Moisture_pct</a:t>
            </a:r>
            <a:r>
              <a:rPr lang="en-US" sz="1600" dirty="0" smtClean="0">
                <a:latin typeface="Times New Roman" pitchFamily="18" charset="0"/>
                <a:cs typeface="Times New Roman" pitchFamily="18" charset="0"/>
              </a:rPr>
              <a:t> with 40, and </a:t>
            </a:r>
            <a:r>
              <a:rPr lang="en-US" sz="1600" dirty="0" err="1" smtClean="0">
                <a:latin typeface="Times New Roman" pitchFamily="18" charset="0"/>
                <a:cs typeface="Times New Roman" pitchFamily="18" charset="0"/>
              </a:rPr>
              <a:t>Yield_Tonnes_Ha</a:t>
            </a:r>
            <a:r>
              <a:rPr lang="en-US" sz="1600" dirty="0" smtClean="0">
                <a:latin typeface="Times New Roman" pitchFamily="18" charset="0"/>
                <a:cs typeface="Times New Roman" pitchFamily="18" charset="0"/>
              </a:rPr>
              <a:t> with approximately 32.</a:t>
            </a:r>
            <a:endParaRPr lang="en-IN" sz="1600" dirty="0">
              <a:latin typeface="Times New Roman" pitchFamily="18" charset="0"/>
              <a:cs typeface="Times New Roman" pitchFamily="18" charset="0"/>
            </a:endParaRPr>
          </a:p>
        </p:txBody>
      </p:sp>
      <p:pic>
        <p:nvPicPr>
          <p:cNvPr id="9" name="Picture 8" descr="Screenshot 2026-09-09 220745.png"/>
          <p:cNvPicPr>
            <a:picLocks noChangeAspect="1"/>
          </p:cNvPicPr>
          <p:nvPr/>
        </p:nvPicPr>
        <p:blipFill>
          <a:blip r:embed="rId3"/>
          <a:stretch>
            <a:fillRect/>
          </a:stretch>
        </p:blipFill>
        <p:spPr>
          <a:xfrm>
            <a:off x="457200" y="1239716"/>
            <a:ext cx="4835769" cy="2954215"/>
          </a:xfrm>
          <a:prstGeom prst="rect">
            <a:avLst/>
          </a:prstGeom>
        </p:spPr>
      </p:pic>
      <p:pic>
        <p:nvPicPr>
          <p:cNvPr id="12" name="Picture 11" descr="Screenshot 2026-09-09 221410.png"/>
          <p:cNvPicPr>
            <a:picLocks noChangeAspect="1"/>
          </p:cNvPicPr>
          <p:nvPr/>
        </p:nvPicPr>
        <p:blipFill>
          <a:blip r:embed="rId4"/>
          <a:stretch>
            <a:fillRect/>
          </a:stretch>
        </p:blipFill>
        <p:spPr>
          <a:xfrm>
            <a:off x="5600699" y="1274886"/>
            <a:ext cx="4404947" cy="3077307"/>
          </a:xfrm>
          <a:prstGeom prst="rect">
            <a:avLst/>
          </a:prstGeom>
        </p:spPr>
      </p:pic>
      <p:sp>
        <p:nvSpPr>
          <p:cNvPr id="13" name="Text Placeholder 1">
            <a:extLst>
              <a:ext uri="{FF2B5EF4-FFF2-40B4-BE49-F238E27FC236}">
                <a16:creationId xmlns="" xmlns:a16="http://schemas.microsoft.com/office/drawing/2014/main" id="{B19D8AC7-3787-4ADB-9212-0808F015C2DD}"/>
              </a:ext>
            </a:extLst>
          </p:cNvPr>
          <p:cNvSpPr txBox="1">
            <a:spLocks/>
          </p:cNvSpPr>
          <p:nvPr/>
        </p:nvSpPr>
        <p:spPr>
          <a:xfrm>
            <a:off x="5697417" y="4387362"/>
            <a:ext cx="4870938" cy="1494692"/>
          </a:xfrm>
          <a:prstGeom prst="rect">
            <a:avLst/>
          </a:prstGeom>
        </p:spPr>
        <p:txBody>
          <a:bodyPr vert="horz" lIns="91440" tIns="45720" rIns="91440" bIns="45720" rtlCol="0" anchor="t">
            <a:normAutofit/>
          </a:bodyPr>
          <a:lstStyle/>
          <a:p>
            <a:pPr lvl="0">
              <a:spcBef>
                <a:spcPts val="1000"/>
              </a:spcBef>
              <a:buClr>
                <a:schemeClr val="accent4"/>
              </a:buClr>
              <a:buSzPct val="80000"/>
            </a:pPr>
            <a:r>
              <a:rPr lang="en-US" sz="1600" dirty="0" smtClean="0">
                <a:latin typeface="Times New Roman" pitchFamily="18" charset="0"/>
                <a:cs typeface="Times New Roman" pitchFamily="18" charset="0"/>
              </a:rPr>
              <a:t>This bar chart shows the distribution of records across agricultural seasons, with </a:t>
            </a:r>
            <a:r>
              <a:rPr lang="en-US" sz="1600" b="1" dirty="0" err="1" smtClean="0">
                <a:latin typeface="Times New Roman" pitchFamily="18" charset="0"/>
                <a:cs typeface="Times New Roman" pitchFamily="18" charset="0"/>
              </a:rPr>
              <a:t>Kharif</a:t>
            </a:r>
            <a:r>
              <a:rPr lang="en-US" sz="1600" dirty="0" smtClean="0">
                <a:latin typeface="Times New Roman" pitchFamily="18" charset="0"/>
                <a:cs typeface="Times New Roman" pitchFamily="18" charset="0"/>
              </a:rPr>
              <a:t> having the highest count at around 1,770 records, followed by </a:t>
            </a:r>
            <a:r>
              <a:rPr lang="en-US" sz="1600" b="1" dirty="0" smtClean="0">
                <a:latin typeface="Times New Roman" pitchFamily="18" charset="0"/>
                <a:cs typeface="Times New Roman" pitchFamily="18" charset="0"/>
              </a:rPr>
              <a:t>Rabi</a:t>
            </a:r>
            <a:r>
              <a:rPr lang="en-US" sz="1600" dirty="0" smtClean="0">
                <a:latin typeface="Times New Roman" pitchFamily="18" charset="0"/>
                <a:cs typeface="Times New Roman" pitchFamily="18" charset="0"/>
              </a:rPr>
              <a:t> at approximately 1,620, and </a:t>
            </a:r>
            <a:r>
              <a:rPr lang="en-US" sz="1600" b="1" dirty="0" err="1" smtClean="0">
                <a:latin typeface="Times New Roman" pitchFamily="18" charset="0"/>
                <a:cs typeface="Times New Roman" pitchFamily="18" charset="0"/>
              </a:rPr>
              <a:t>Zaid</a:t>
            </a:r>
            <a:r>
              <a:rPr lang="en-US" sz="1600" dirty="0" smtClean="0">
                <a:latin typeface="Times New Roman" pitchFamily="18" charset="0"/>
                <a:cs typeface="Times New Roman" pitchFamily="18" charset="0"/>
              </a:rPr>
              <a:t> with the lowest count near 580 records.</a:t>
            </a:r>
            <a:endParaRPr kumimoji="0" lang="en-IN" sz="1600" b="0" i="0" u="none" strike="noStrike" kern="1200" cap="none" spc="0" normalizeH="0" baseline="0" noProof="0" dirty="0">
              <a:ln>
                <a:noFill/>
              </a:ln>
              <a:solidFill>
                <a:schemeClr val="tx1">
                  <a:lumMod val="75000"/>
                  <a:lumOff val="25000"/>
                </a:schemeClr>
              </a:solidFill>
              <a:effectLst/>
              <a:uLnTx/>
              <a:uFillTx/>
              <a:latin typeface="Times New Roman" pitchFamily="18" charset="0"/>
              <a:cs typeface="Times New Roman" pitchFamily="18" charset="0"/>
            </a:endParaRPr>
          </a:p>
        </p:txBody>
      </p:sp>
    </p:spTree>
    <p:extLst>
      <p:ext uri="{BB962C8B-B14F-4D97-AF65-F5344CB8AC3E}">
        <p14:creationId xmlns=""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3">
                                            <p:txEl>
                                              <p:pRg st="0" end="0"/>
                                            </p:txEl>
                                          </p:spTgt>
                                        </p:tgtEl>
                                        <p:attrNameLst>
                                          <p:attrName>style.visibility</p:attrName>
                                        </p:attrNameLst>
                                      </p:cBhvr>
                                      <p:to>
                                        <p:strVal val="visible"/>
                                      </p:to>
                                    </p:set>
                                    <p:animEffect transition="in" filter="fade">
                                      <p:cBhvr>
                                        <p:cTn id="35" dur="1000"/>
                                        <p:tgtEl>
                                          <p:spTgt spid="13">
                                            <p:txEl>
                                              <p:pRg st="0" end="0"/>
                                            </p:txEl>
                                          </p:spTgt>
                                        </p:tgtEl>
                                      </p:cBhvr>
                                    </p:animEffect>
                                    <p:anim calcmode="lin" valueType="num">
                                      <p:cBhvr>
                                        <p:cTn id="36" dur="1000" fill="hold"/>
                                        <p:tgtEl>
                                          <p:spTgt spid="13">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1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P spid="1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latin typeface="Times New Roman" pitchFamily="18" charset="0"/>
                <a:cs typeface="Times New Roman" pitchFamily="18" charset="0"/>
              </a:rPr>
              <a:t>RESULTS</a:t>
            </a:r>
            <a:r>
              <a:rPr lang="en-GB" dirty="0"/>
              <a:t> </a:t>
            </a:r>
            <a:endParaRPr lang="en-IN" dirty="0"/>
          </a:p>
        </p:txBody>
      </p:sp>
      <p:sp>
        <p:nvSpPr>
          <p:cNvPr id="7" name="Text Placeholder 30">
            <a:extLst>
              <a:ext uri="{FF2B5EF4-FFF2-40B4-BE49-F238E27FC236}">
                <a16:creationId xmlns=""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 xmlns:a16="http://schemas.microsoft.com/office/drawing/2014/main" id="{3A64DB11-806F-1A4C-E0D5-D745D29CED50}"/>
              </a:ext>
            </a:extLst>
          </p:cNvPr>
          <p:cNvSpPr>
            <a:spLocks noGrp="1"/>
          </p:cNvSpPr>
          <p:nvPr>
            <p:ph type="body" sz="quarter" idx="12"/>
          </p:nvPr>
        </p:nvSpPr>
        <p:spPr>
          <a:xfrm>
            <a:off x="562708" y="4695092"/>
            <a:ext cx="4519594" cy="1872761"/>
          </a:xfrm>
        </p:spPr>
        <p:txBody>
          <a:bodyPr>
            <a:normAutofit/>
          </a:bodyPr>
          <a:lstStyle/>
          <a:p>
            <a:pPr marL="0" indent="0">
              <a:buNone/>
            </a:pPr>
            <a:r>
              <a:rPr lang="en-US" sz="1600" dirty="0" smtClean="0">
                <a:latin typeface="Times New Roman" pitchFamily="18" charset="0"/>
                <a:cs typeface="Times New Roman" pitchFamily="18" charset="0"/>
              </a:rPr>
              <a:t>The bar chart shows the distribution of records across various crops, with </a:t>
            </a:r>
            <a:r>
              <a:rPr lang="en-US" sz="1600" b="1" dirty="0" smtClean="0">
                <a:latin typeface="Times New Roman" pitchFamily="18" charset="0"/>
                <a:cs typeface="Times New Roman" pitchFamily="18" charset="0"/>
              </a:rPr>
              <a:t>Rice</a:t>
            </a:r>
            <a:r>
              <a:rPr lang="en-US" sz="1600" dirty="0" smtClean="0">
                <a:latin typeface="Times New Roman" pitchFamily="18" charset="0"/>
                <a:cs typeface="Times New Roman" pitchFamily="18" charset="0"/>
              </a:rPr>
              <a:t> accounting for the highest count at nearly 690 records, followed by </a:t>
            </a:r>
            <a:r>
              <a:rPr lang="en-US" sz="1600" b="1" dirty="0" smtClean="0">
                <a:latin typeface="Times New Roman" pitchFamily="18" charset="0"/>
                <a:cs typeface="Times New Roman" pitchFamily="18" charset="0"/>
              </a:rPr>
              <a:t>Wheat</a:t>
            </a:r>
            <a:r>
              <a:rPr lang="en-US" sz="1600" dirty="0" smtClean="0">
                <a:latin typeface="Times New Roman" pitchFamily="18" charset="0"/>
                <a:cs typeface="Times New Roman" pitchFamily="18" charset="0"/>
              </a:rPr>
              <a:t> (~610), </a:t>
            </a:r>
            <a:r>
              <a:rPr lang="en-US" sz="1600" b="1" dirty="0" smtClean="0">
                <a:latin typeface="Times New Roman" pitchFamily="18" charset="0"/>
                <a:cs typeface="Times New Roman" pitchFamily="18" charset="0"/>
              </a:rPr>
              <a:t>Maize</a:t>
            </a:r>
            <a:r>
              <a:rPr lang="en-US" sz="1600" dirty="0" smtClean="0">
                <a:latin typeface="Times New Roman" pitchFamily="18" charset="0"/>
                <a:cs typeface="Times New Roman" pitchFamily="18" charset="0"/>
              </a:rPr>
              <a:t> (~550), </a:t>
            </a:r>
            <a:r>
              <a:rPr lang="en-US" sz="1600" b="1" dirty="0" smtClean="0">
                <a:latin typeface="Times New Roman" pitchFamily="18" charset="0"/>
                <a:cs typeface="Times New Roman" pitchFamily="18" charset="0"/>
              </a:rPr>
              <a:t>Cotton</a:t>
            </a:r>
            <a:r>
              <a:rPr lang="en-US" sz="1600" dirty="0" smtClean="0">
                <a:latin typeface="Times New Roman" pitchFamily="18" charset="0"/>
                <a:cs typeface="Times New Roman" pitchFamily="18" charset="0"/>
              </a:rPr>
              <a:t> (~505), and </a:t>
            </a:r>
            <a:r>
              <a:rPr lang="en-US" sz="1600" b="1" dirty="0" smtClean="0">
                <a:latin typeface="Times New Roman" pitchFamily="18" charset="0"/>
                <a:cs typeface="Times New Roman" pitchFamily="18" charset="0"/>
              </a:rPr>
              <a:t>Pulses</a:t>
            </a:r>
            <a:r>
              <a:rPr lang="en-US" sz="1600" dirty="0" smtClean="0">
                <a:latin typeface="Times New Roman" pitchFamily="18" charset="0"/>
                <a:cs typeface="Times New Roman" pitchFamily="18" charset="0"/>
              </a:rPr>
              <a:t> (~495), while </a:t>
            </a:r>
            <a:r>
              <a:rPr lang="en-US" sz="1600" b="1" dirty="0" smtClean="0">
                <a:latin typeface="Times New Roman" pitchFamily="18" charset="0"/>
                <a:cs typeface="Times New Roman" pitchFamily="18" charset="0"/>
              </a:rPr>
              <a:t>Groundnut</a:t>
            </a:r>
            <a:r>
              <a:rPr lang="en-US" sz="1600" dirty="0" smtClean="0">
                <a:latin typeface="Times New Roman" pitchFamily="18" charset="0"/>
                <a:cs typeface="Times New Roman" pitchFamily="18" charset="0"/>
              </a:rPr>
              <a:t> (~420), </a:t>
            </a:r>
            <a:r>
              <a:rPr lang="en-US" sz="1600" b="1" dirty="0" err="1" smtClean="0">
                <a:latin typeface="Times New Roman" pitchFamily="18" charset="0"/>
                <a:cs typeface="Times New Roman" pitchFamily="18" charset="0"/>
              </a:rPr>
              <a:t>Chilli</a:t>
            </a:r>
            <a:r>
              <a:rPr lang="en-US" sz="1600" dirty="0" smtClean="0">
                <a:latin typeface="Times New Roman" pitchFamily="18" charset="0"/>
                <a:cs typeface="Times New Roman" pitchFamily="18" charset="0"/>
              </a:rPr>
              <a:t> (~410), and </a:t>
            </a:r>
            <a:r>
              <a:rPr lang="en-US" sz="1600" b="1" dirty="0" smtClean="0">
                <a:latin typeface="Times New Roman" pitchFamily="18" charset="0"/>
                <a:cs typeface="Times New Roman" pitchFamily="18" charset="0"/>
              </a:rPr>
              <a:t>Sugarcane</a:t>
            </a:r>
            <a:r>
              <a:rPr lang="en-US" sz="1600" dirty="0" smtClean="0">
                <a:latin typeface="Times New Roman" pitchFamily="18" charset="0"/>
                <a:cs typeface="Times New Roman" pitchFamily="18" charset="0"/>
              </a:rPr>
              <a:t> (~305) make up the lower end of the distribution.</a:t>
            </a:r>
            <a:endParaRPr lang="en-IN" sz="1600" dirty="0">
              <a:latin typeface="Times New Roman" pitchFamily="18" charset="0"/>
              <a:cs typeface="Times New Roman" pitchFamily="18" charset="0"/>
            </a:endParaRPr>
          </a:p>
        </p:txBody>
      </p:sp>
      <p:pic>
        <p:nvPicPr>
          <p:cNvPr id="9" name="Picture 8" descr="Screenshot 2026-09-09 221933.png"/>
          <p:cNvPicPr>
            <a:picLocks noChangeAspect="1"/>
          </p:cNvPicPr>
          <p:nvPr/>
        </p:nvPicPr>
        <p:blipFill>
          <a:blip r:embed="rId3"/>
          <a:stretch>
            <a:fillRect/>
          </a:stretch>
        </p:blipFill>
        <p:spPr>
          <a:xfrm>
            <a:off x="463319" y="1169377"/>
            <a:ext cx="4416412" cy="3288323"/>
          </a:xfrm>
          <a:prstGeom prst="rect">
            <a:avLst/>
          </a:prstGeom>
        </p:spPr>
      </p:pic>
      <p:pic>
        <p:nvPicPr>
          <p:cNvPr id="11" name="Picture 10" descr="Screenshot 2026-09-09 222211.png"/>
          <p:cNvPicPr>
            <a:picLocks noChangeAspect="1"/>
          </p:cNvPicPr>
          <p:nvPr/>
        </p:nvPicPr>
        <p:blipFill>
          <a:blip r:embed="rId4"/>
          <a:stretch>
            <a:fillRect/>
          </a:stretch>
        </p:blipFill>
        <p:spPr>
          <a:xfrm>
            <a:off x="5336931" y="1337444"/>
            <a:ext cx="4325816" cy="2926826"/>
          </a:xfrm>
          <a:prstGeom prst="rect">
            <a:avLst/>
          </a:prstGeom>
        </p:spPr>
      </p:pic>
      <p:sp>
        <p:nvSpPr>
          <p:cNvPr id="12" name="Text Placeholder 1">
            <a:extLst>
              <a:ext uri="{FF2B5EF4-FFF2-40B4-BE49-F238E27FC236}">
                <a16:creationId xmlns="" xmlns:a16="http://schemas.microsoft.com/office/drawing/2014/main" id="{3A64DB11-806F-1A4C-E0D5-D745D29CED50}"/>
              </a:ext>
            </a:extLst>
          </p:cNvPr>
          <p:cNvSpPr txBox="1">
            <a:spLocks/>
          </p:cNvSpPr>
          <p:nvPr/>
        </p:nvSpPr>
        <p:spPr>
          <a:xfrm>
            <a:off x="5542085" y="4706815"/>
            <a:ext cx="4519594" cy="1872761"/>
          </a:xfrm>
          <a:prstGeom prst="rect">
            <a:avLst/>
          </a:prstGeom>
        </p:spPr>
        <p:txBody>
          <a:bodyPr vert="horz" lIns="91440" tIns="45720" rIns="91440" bIns="45720" rtlCol="0">
            <a:normAutofit/>
          </a:bodyPr>
          <a:lstStyle/>
          <a:p>
            <a:pPr marL="0" marR="0" lvl="0" indent="0" algn="l" defTabSz="457200" rtl="0" eaLnBrk="1" fontAlgn="auto" latinLnBrk="0" hangingPunct="1">
              <a:lnSpc>
                <a:spcPct val="100000"/>
              </a:lnSpc>
              <a:spcBef>
                <a:spcPts val="1000"/>
              </a:spcBef>
              <a:spcAft>
                <a:spcPts val="0"/>
              </a:spcAft>
              <a:buClr>
                <a:schemeClr val="accent4"/>
              </a:buClr>
              <a:buSzPct val="80000"/>
              <a:buFont typeface="Wingdings" panose="05000000000000000000" pitchFamily="2" charset="2"/>
              <a:buNone/>
              <a:tabLst/>
              <a:defRPr/>
            </a:pPr>
            <a:endParaRPr kumimoji="0" lang="en-IN" sz="1600" b="0" i="0" u="none" strike="noStrike" kern="1200" cap="none" spc="0" normalizeH="0" baseline="0" noProof="0" dirty="0">
              <a:ln>
                <a:noFill/>
              </a:ln>
              <a:solidFill>
                <a:schemeClr val="tx1">
                  <a:lumMod val="75000"/>
                  <a:lumOff val="25000"/>
                </a:schemeClr>
              </a:solidFill>
              <a:effectLst/>
              <a:uLnTx/>
              <a:uFillTx/>
              <a:latin typeface="Times New Roman" pitchFamily="18" charset="0"/>
              <a:ea typeface="+mn-ea"/>
              <a:cs typeface="Times New Roman" pitchFamily="18" charset="0"/>
            </a:endParaRPr>
          </a:p>
        </p:txBody>
      </p:sp>
      <p:sp>
        <p:nvSpPr>
          <p:cNvPr id="13" name="Text Placeholder 1">
            <a:extLst>
              <a:ext uri="{FF2B5EF4-FFF2-40B4-BE49-F238E27FC236}">
                <a16:creationId xmlns="" xmlns:a16="http://schemas.microsoft.com/office/drawing/2014/main" id="{3A64DB11-806F-1A4C-E0D5-D745D29CED50}"/>
              </a:ext>
            </a:extLst>
          </p:cNvPr>
          <p:cNvSpPr txBox="1">
            <a:spLocks/>
          </p:cNvSpPr>
          <p:nvPr/>
        </p:nvSpPr>
        <p:spPr>
          <a:xfrm>
            <a:off x="5418993" y="4698023"/>
            <a:ext cx="4519594" cy="1872761"/>
          </a:xfrm>
          <a:prstGeom prst="rect">
            <a:avLst/>
          </a:prstGeom>
        </p:spPr>
        <p:txBody>
          <a:bodyPr vert="horz" lIns="91440" tIns="45720" rIns="91440" bIns="45720" rtlCol="0">
            <a:normAutofit/>
          </a:bodyPr>
          <a:lstStyle/>
          <a:p>
            <a:pPr lvl="0">
              <a:spcBef>
                <a:spcPts val="1000"/>
              </a:spcBef>
              <a:buClr>
                <a:schemeClr val="accent4"/>
              </a:buClr>
              <a:buSzPct val="80000"/>
            </a:pPr>
            <a:r>
              <a:rPr lang="en-US" sz="1600" dirty="0" smtClean="0">
                <a:latin typeface="Times New Roman" pitchFamily="18" charset="0"/>
                <a:cs typeface="Times New Roman" pitchFamily="18" charset="0"/>
              </a:rPr>
              <a:t>The histogram shows a strongly right-skewed distribution of crop yield, with the vast majority of records heavily concentrated between 0 and 5 </a:t>
            </a:r>
            <a:r>
              <a:rPr lang="en-US" sz="1600" dirty="0" err="1" smtClean="0">
                <a:latin typeface="Times New Roman" pitchFamily="18" charset="0"/>
                <a:cs typeface="Times New Roman" pitchFamily="18" charset="0"/>
              </a:rPr>
              <a:t>tonnes</a:t>
            </a:r>
            <a:r>
              <a:rPr lang="en-US" sz="1600" dirty="0" smtClean="0">
                <a:latin typeface="Times New Roman" pitchFamily="18" charset="0"/>
                <a:cs typeface="Times New Roman" pitchFamily="18" charset="0"/>
              </a:rPr>
              <a:t>/ha (peaking near 390 in frequency). A very long, sparse tail extends all the way up to 100 </a:t>
            </a:r>
            <a:r>
              <a:rPr lang="en-US" sz="1600" dirty="0" err="1" smtClean="0">
                <a:latin typeface="Times New Roman" pitchFamily="18" charset="0"/>
                <a:cs typeface="Times New Roman" pitchFamily="18" charset="0"/>
              </a:rPr>
              <a:t>tonnes</a:t>
            </a:r>
            <a:r>
              <a:rPr lang="en-US" sz="1600" dirty="0" smtClean="0">
                <a:latin typeface="Times New Roman" pitchFamily="18" charset="0"/>
                <a:cs typeface="Times New Roman" pitchFamily="18" charset="0"/>
              </a:rPr>
              <a:t>/ha, indicating potential outliers or specialized high-yield crops.</a:t>
            </a:r>
            <a:endParaRPr kumimoji="0" lang="en-IN" sz="1600" b="0" i="0" u="none" strike="noStrike" kern="1200" cap="none" spc="0" normalizeH="0" baseline="0" noProof="0" dirty="0">
              <a:ln>
                <a:noFill/>
              </a:ln>
              <a:solidFill>
                <a:schemeClr val="tx1">
                  <a:lumMod val="75000"/>
                  <a:lumOff val="25000"/>
                </a:schemeClr>
              </a:solidFill>
              <a:effectLst/>
              <a:uLnTx/>
              <a:uFillTx/>
              <a:latin typeface="Times New Roman" pitchFamily="18" charset="0"/>
              <a:cs typeface="Times New Roman" pitchFamily="18" charset="0"/>
            </a:endParaRPr>
          </a:p>
        </p:txBody>
      </p:sp>
    </p:spTree>
    <p:extLst>
      <p:ext uri="{BB962C8B-B14F-4D97-AF65-F5344CB8AC3E}">
        <p14:creationId xmlns=""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nodePh="1">
                                  <p:stCondLst>
                                    <p:cond delay="0"/>
                                  </p:stCondLst>
                                  <p:endCondLst>
                                    <p:cond evt="begin" delay="0">
                                      <p:tn val="33"/>
                                    </p:cond>
                                  </p:endCondLst>
                                  <p:childTnLst>
                                    <p:set>
                                      <p:cBhvr>
                                        <p:cTn id="34" dur="1" fill="hold">
                                          <p:stCondLst>
                                            <p:cond delay="0"/>
                                          </p:stCondLst>
                                        </p:cTn>
                                        <p:tgtEl>
                                          <p:spTgt spid="12">
                                            <p:txEl>
                                              <p:pRg st="0" end="0"/>
                                            </p:txEl>
                                          </p:spTgt>
                                        </p:tgtEl>
                                        <p:attrNameLst>
                                          <p:attrName>style.visibility</p:attrName>
                                        </p:attrNameLst>
                                      </p:cBhvr>
                                      <p:to>
                                        <p:strVal val="visible"/>
                                      </p:to>
                                    </p:set>
                                    <p:animEffect transition="in" filter="fade">
                                      <p:cBhvr>
                                        <p:cTn id="35" dur="1000"/>
                                        <p:tgtEl>
                                          <p:spTgt spid="12">
                                            <p:txEl>
                                              <p:pRg st="0" end="0"/>
                                            </p:txEl>
                                          </p:spTgt>
                                        </p:tgtEl>
                                      </p:cBhvr>
                                    </p:animEffect>
                                    <p:anim calcmode="lin" valueType="num">
                                      <p:cBhvr>
                                        <p:cTn id="36"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1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3">
                                            <p:txEl>
                                              <p:pRg st="0" end="0"/>
                                            </p:txEl>
                                          </p:spTgt>
                                        </p:tgtEl>
                                        <p:attrNameLst>
                                          <p:attrName>style.visibility</p:attrName>
                                        </p:attrNameLst>
                                      </p:cBhvr>
                                      <p:to>
                                        <p:strVal val="visible"/>
                                      </p:to>
                                    </p:set>
                                    <p:animEffect transition="in" filter="fade">
                                      <p:cBhvr>
                                        <p:cTn id="42" dur="1000"/>
                                        <p:tgtEl>
                                          <p:spTgt spid="13">
                                            <p:txEl>
                                              <p:pRg st="0" end="0"/>
                                            </p:txEl>
                                          </p:spTgt>
                                        </p:tgtEl>
                                      </p:cBhvr>
                                    </p:animEffect>
                                    <p:anim calcmode="lin" valueType="num">
                                      <p:cBhvr>
                                        <p:cTn id="43" dur="1000" fill="hold"/>
                                        <p:tgtEl>
                                          <p:spTgt spid="13">
                                            <p:txEl>
                                              <p:pRg st="0" end="0"/>
                                            </p:txEl>
                                          </p:spTgt>
                                        </p:tgtEl>
                                        <p:attrNameLst>
                                          <p:attrName>ppt_x</p:attrName>
                                        </p:attrNameLst>
                                      </p:cBhvr>
                                      <p:tavLst>
                                        <p:tav tm="0">
                                          <p:val>
                                            <p:strVal val="#ppt_x"/>
                                          </p:val>
                                        </p:tav>
                                        <p:tav tm="100000">
                                          <p:val>
                                            <p:strVal val="#ppt_x"/>
                                          </p:val>
                                        </p:tav>
                                      </p:tavLst>
                                    </p:anim>
                                    <p:anim calcmode="lin" valueType="num">
                                      <p:cBhvr>
                                        <p:cTn id="44" dur="1000" fill="hold"/>
                                        <p:tgtEl>
                                          <p:spTgt spid="1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P spid="12" grpId="0" build="p"/>
      <p:bldP spid="1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latin typeface="Times New Roman" pitchFamily="18" charset="0"/>
                <a:cs typeface="Times New Roman" pitchFamily="18" charset="0"/>
              </a:rPr>
              <a:t>RESULTS</a:t>
            </a:r>
            <a:r>
              <a:rPr lang="en-GB" dirty="0"/>
              <a:t> </a:t>
            </a:r>
            <a:endParaRPr lang="en-IN" dirty="0"/>
          </a:p>
        </p:txBody>
      </p:sp>
      <p:sp>
        <p:nvSpPr>
          <p:cNvPr id="7" name="Text Placeholder 30">
            <a:extLst>
              <a:ext uri="{FF2B5EF4-FFF2-40B4-BE49-F238E27FC236}">
                <a16:creationId xmlns=""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 xmlns:a16="http://schemas.microsoft.com/office/drawing/2014/main" id="{B6E3B1C7-6A8B-23EE-6251-DC1067C6ADE9}"/>
              </a:ext>
            </a:extLst>
          </p:cNvPr>
          <p:cNvSpPr>
            <a:spLocks noGrp="1"/>
          </p:cNvSpPr>
          <p:nvPr>
            <p:ph type="body" sz="quarter" idx="12"/>
          </p:nvPr>
        </p:nvSpPr>
        <p:spPr>
          <a:xfrm>
            <a:off x="569772" y="4440115"/>
            <a:ext cx="4275138" cy="2048608"/>
          </a:xfrm>
        </p:spPr>
        <p:txBody>
          <a:bodyPr>
            <a:noAutofit/>
          </a:bodyPr>
          <a:lstStyle/>
          <a:p>
            <a:pPr marL="0" indent="0">
              <a:buNone/>
            </a:pPr>
            <a:r>
              <a:rPr lang="en-US" sz="1600" dirty="0" smtClean="0">
                <a:latin typeface="Times New Roman" pitchFamily="18" charset="0"/>
                <a:cs typeface="Times New Roman" pitchFamily="18" charset="0"/>
              </a:rPr>
              <a:t>This histogram shows a sharply peaked, right-skewed distribution of farm profit, centered around 0 INR with a major frequency spike above 400. While the vast majority of farms cluster between -0.5 million and 0.5 million INR, a notable long tail extends into negative values down to -1 million INR and stretches far to the right, reaching up to 4 million INR.</a:t>
            </a:r>
            <a:endParaRPr lang="en-IN" sz="1600" dirty="0">
              <a:latin typeface="Times New Roman" pitchFamily="18" charset="0"/>
              <a:cs typeface="Times New Roman" pitchFamily="18" charset="0"/>
            </a:endParaRPr>
          </a:p>
        </p:txBody>
      </p:sp>
      <p:pic>
        <p:nvPicPr>
          <p:cNvPr id="9" name="Picture 8" descr="Screenshot 2026-09-09 222521.png"/>
          <p:cNvPicPr>
            <a:picLocks noChangeAspect="1"/>
          </p:cNvPicPr>
          <p:nvPr/>
        </p:nvPicPr>
        <p:blipFill>
          <a:blip r:embed="rId3"/>
          <a:stretch>
            <a:fillRect/>
          </a:stretch>
        </p:blipFill>
        <p:spPr>
          <a:xfrm>
            <a:off x="535192" y="1340368"/>
            <a:ext cx="4318161" cy="2660132"/>
          </a:xfrm>
          <a:prstGeom prst="rect">
            <a:avLst/>
          </a:prstGeom>
        </p:spPr>
      </p:pic>
      <p:pic>
        <p:nvPicPr>
          <p:cNvPr id="11" name="Picture 10" descr="Screenshot 2026-09-09 222757.png"/>
          <p:cNvPicPr>
            <a:picLocks noChangeAspect="1"/>
          </p:cNvPicPr>
          <p:nvPr/>
        </p:nvPicPr>
        <p:blipFill>
          <a:blip r:embed="rId4"/>
          <a:stretch>
            <a:fillRect/>
          </a:stretch>
        </p:blipFill>
        <p:spPr>
          <a:xfrm>
            <a:off x="5328138" y="1304028"/>
            <a:ext cx="4158761" cy="2670096"/>
          </a:xfrm>
          <a:prstGeom prst="rect">
            <a:avLst/>
          </a:prstGeom>
        </p:spPr>
      </p:pic>
      <p:sp>
        <p:nvSpPr>
          <p:cNvPr id="12" name="Text Placeholder 1">
            <a:extLst>
              <a:ext uri="{FF2B5EF4-FFF2-40B4-BE49-F238E27FC236}">
                <a16:creationId xmlns="" xmlns:a16="http://schemas.microsoft.com/office/drawing/2014/main" id="{B6E3B1C7-6A8B-23EE-6251-DC1067C6ADE9}"/>
              </a:ext>
            </a:extLst>
          </p:cNvPr>
          <p:cNvSpPr txBox="1">
            <a:spLocks/>
          </p:cNvSpPr>
          <p:nvPr/>
        </p:nvSpPr>
        <p:spPr>
          <a:xfrm>
            <a:off x="5250210" y="4443046"/>
            <a:ext cx="4275138" cy="2048608"/>
          </a:xfrm>
          <a:prstGeom prst="rect">
            <a:avLst/>
          </a:prstGeom>
        </p:spPr>
        <p:txBody>
          <a:bodyPr vert="horz" lIns="91440" tIns="45720" rIns="91440" bIns="45720" rtlCol="0">
            <a:noAutofit/>
          </a:bodyPr>
          <a:lstStyle/>
          <a:p>
            <a:pPr lvl="0">
              <a:spcBef>
                <a:spcPts val="1000"/>
              </a:spcBef>
              <a:buClr>
                <a:schemeClr val="accent4"/>
              </a:buClr>
              <a:buSzPct val="80000"/>
            </a:pPr>
            <a:r>
              <a:rPr lang="en-US" sz="1600" dirty="0" smtClean="0">
                <a:latin typeface="Times New Roman" pitchFamily="18" charset="0"/>
                <a:cs typeface="Times New Roman" pitchFamily="18" charset="0"/>
              </a:rPr>
              <a:t>This histogram shows a moderately right-skewed, slightly bimodal distribution of rainfall, with the highest concentration of values between 300 mm and 600 mm (peaking at 300 in frequency near 550 mm) and a secondary peak around 850 mm. The values taper off gradually above 1,000 mm, extending up to approximately 1,400 mm.</a:t>
            </a:r>
            <a:endParaRPr kumimoji="0" lang="en-IN" sz="1600" b="0" i="0" u="none" strike="noStrike" kern="1200" cap="none" spc="0" normalizeH="0" baseline="0" noProof="0" dirty="0">
              <a:ln>
                <a:noFill/>
              </a:ln>
              <a:solidFill>
                <a:schemeClr val="tx1">
                  <a:lumMod val="75000"/>
                  <a:lumOff val="25000"/>
                </a:schemeClr>
              </a:solidFill>
              <a:effectLst/>
              <a:uLnTx/>
              <a:uFillTx/>
              <a:latin typeface="Times New Roman" pitchFamily="18" charset="0"/>
              <a:cs typeface="Times New Roman" pitchFamily="18" charset="0"/>
            </a:endParaRPr>
          </a:p>
        </p:txBody>
      </p:sp>
    </p:spTree>
    <p:extLst>
      <p:ext uri="{BB962C8B-B14F-4D97-AF65-F5344CB8AC3E}">
        <p14:creationId xmlns=""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2">
                                            <p:txEl>
                                              <p:pRg st="0" end="0"/>
                                            </p:txEl>
                                          </p:spTgt>
                                        </p:tgtEl>
                                        <p:attrNameLst>
                                          <p:attrName>style.visibility</p:attrName>
                                        </p:attrNameLst>
                                      </p:cBhvr>
                                      <p:to>
                                        <p:strVal val="visible"/>
                                      </p:to>
                                    </p:set>
                                    <p:animEffect transition="in" filter="fade">
                                      <p:cBhvr>
                                        <p:cTn id="35" dur="1000"/>
                                        <p:tgtEl>
                                          <p:spTgt spid="12">
                                            <p:txEl>
                                              <p:pRg st="0" end="0"/>
                                            </p:txEl>
                                          </p:spTgt>
                                        </p:tgtEl>
                                      </p:cBhvr>
                                    </p:animEffect>
                                    <p:anim calcmode="lin" valueType="num">
                                      <p:cBhvr>
                                        <p:cTn id="36"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1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P spid="12"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latin typeface="Times New Roman" pitchFamily="18" charset="0"/>
                <a:cs typeface="Times New Roman" pitchFamily="18" charset="0"/>
              </a:rPr>
              <a:t>RESULTS</a:t>
            </a:r>
            <a:r>
              <a:rPr lang="en-GB" dirty="0"/>
              <a:t> </a:t>
            </a:r>
            <a:endParaRPr lang="en-IN" dirty="0"/>
          </a:p>
        </p:txBody>
      </p:sp>
      <p:sp>
        <p:nvSpPr>
          <p:cNvPr id="7" name="Text Placeholder 30">
            <a:extLst>
              <a:ext uri="{FF2B5EF4-FFF2-40B4-BE49-F238E27FC236}">
                <a16:creationId xmlns=""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 xmlns:a16="http://schemas.microsoft.com/office/drawing/2014/main" id="{2B7B89A1-9444-8322-CADC-42D31D698FA8}"/>
              </a:ext>
            </a:extLst>
          </p:cNvPr>
          <p:cNvSpPr>
            <a:spLocks noGrp="1"/>
          </p:cNvSpPr>
          <p:nvPr>
            <p:ph type="body" sz="quarter" idx="12"/>
          </p:nvPr>
        </p:nvSpPr>
        <p:spPr>
          <a:xfrm>
            <a:off x="736825" y="4572000"/>
            <a:ext cx="4275138" cy="1900421"/>
          </a:xfrm>
        </p:spPr>
        <p:txBody>
          <a:bodyPr>
            <a:normAutofit/>
          </a:bodyPr>
          <a:lstStyle/>
          <a:p>
            <a:pPr marL="0" indent="0">
              <a:buNone/>
            </a:pPr>
            <a:r>
              <a:rPr lang="en-US" sz="1600" dirty="0" smtClean="0">
                <a:latin typeface="Times New Roman" pitchFamily="18" charset="0"/>
                <a:cs typeface="Times New Roman" pitchFamily="18" charset="0"/>
              </a:rPr>
              <a:t>This </a:t>
            </a:r>
            <a:r>
              <a:rPr lang="en-US" sz="1600" dirty="0" err="1" smtClean="0">
                <a:latin typeface="Times New Roman" pitchFamily="18" charset="0"/>
                <a:cs typeface="Times New Roman" pitchFamily="18" charset="0"/>
              </a:rPr>
              <a:t>boxplot</a:t>
            </a:r>
            <a:r>
              <a:rPr lang="en-US" sz="1600" dirty="0" smtClean="0">
                <a:latin typeface="Times New Roman" pitchFamily="18" charset="0"/>
                <a:cs typeface="Times New Roman" pitchFamily="18" charset="0"/>
              </a:rPr>
              <a:t> reveals a highly compressed </a:t>
            </a:r>
            <a:r>
              <a:rPr lang="en-US" sz="1600" dirty="0" err="1" smtClean="0">
                <a:latin typeface="Times New Roman" pitchFamily="18" charset="0"/>
                <a:cs typeface="Times New Roman" pitchFamily="18" charset="0"/>
              </a:rPr>
              <a:t>interquartile</a:t>
            </a:r>
            <a:r>
              <a:rPr lang="en-US" sz="1600" dirty="0" smtClean="0">
                <a:latin typeface="Times New Roman" pitchFamily="18" charset="0"/>
                <a:cs typeface="Times New Roman" pitchFamily="18" charset="0"/>
              </a:rPr>
              <a:t> range concentrated near 0 to 5 </a:t>
            </a:r>
            <a:r>
              <a:rPr lang="en-US" sz="1600" dirty="0" err="1" smtClean="0">
                <a:latin typeface="Times New Roman" pitchFamily="18" charset="0"/>
                <a:cs typeface="Times New Roman" pitchFamily="18" charset="0"/>
              </a:rPr>
              <a:t>tonnes</a:t>
            </a:r>
            <a:r>
              <a:rPr lang="en-US" sz="1600" dirty="0" smtClean="0">
                <a:latin typeface="Times New Roman" pitchFamily="18" charset="0"/>
                <a:cs typeface="Times New Roman" pitchFamily="18" charset="0"/>
              </a:rPr>
              <a:t>/ha, accompanied by a dense trail of upper outliers that stretch all the way up to approximately 100 </a:t>
            </a:r>
            <a:r>
              <a:rPr lang="en-US" sz="1600" dirty="0" err="1" smtClean="0">
                <a:latin typeface="Times New Roman" pitchFamily="18" charset="0"/>
                <a:cs typeface="Times New Roman" pitchFamily="18" charset="0"/>
              </a:rPr>
              <a:t>tonnes</a:t>
            </a:r>
            <a:r>
              <a:rPr lang="en-US" sz="1600" dirty="0" smtClean="0">
                <a:latin typeface="Times New Roman" pitchFamily="18" charset="0"/>
                <a:cs typeface="Times New Roman" pitchFamily="18" charset="0"/>
              </a:rPr>
              <a:t>/ha.</a:t>
            </a:r>
            <a:endParaRPr lang="en-IN" sz="1600" dirty="0">
              <a:latin typeface="Times New Roman" pitchFamily="18" charset="0"/>
              <a:cs typeface="Times New Roman" pitchFamily="18" charset="0"/>
            </a:endParaRPr>
          </a:p>
        </p:txBody>
      </p:sp>
      <p:pic>
        <p:nvPicPr>
          <p:cNvPr id="9" name="Picture 8" descr="Screenshot 2026-09-09 223016.png"/>
          <p:cNvPicPr>
            <a:picLocks noChangeAspect="1"/>
          </p:cNvPicPr>
          <p:nvPr/>
        </p:nvPicPr>
        <p:blipFill>
          <a:blip r:embed="rId3"/>
          <a:stretch>
            <a:fillRect/>
          </a:stretch>
        </p:blipFill>
        <p:spPr>
          <a:xfrm>
            <a:off x="508521" y="1374956"/>
            <a:ext cx="4520679" cy="2924482"/>
          </a:xfrm>
          <a:prstGeom prst="rect">
            <a:avLst/>
          </a:prstGeom>
        </p:spPr>
      </p:pic>
      <p:pic>
        <p:nvPicPr>
          <p:cNvPr id="11" name="Picture 10" descr="Screenshot 2026-09-09 223202.png"/>
          <p:cNvPicPr>
            <a:picLocks noChangeAspect="1"/>
          </p:cNvPicPr>
          <p:nvPr/>
        </p:nvPicPr>
        <p:blipFill>
          <a:blip r:embed="rId4"/>
          <a:stretch>
            <a:fillRect/>
          </a:stretch>
        </p:blipFill>
        <p:spPr>
          <a:xfrm>
            <a:off x="5430856" y="1560491"/>
            <a:ext cx="3528366" cy="2492764"/>
          </a:xfrm>
          <a:prstGeom prst="rect">
            <a:avLst/>
          </a:prstGeom>
        </p:spPr>
      </p:pic>
      <p:sp>
        <p:nvSpPr>
          <p:cNvPr id="12" name="Text Placeholder 1">
            <a:extLst>
              <a:ext uri="{FF2B5EF4-FFF2-40B4-BE49-F238E27FC236}">
                <a16:creationId xmlns="" xmlns:a16="http://schemas.microsoft.com/office/drawing/2014/main" id="{2B7B89A1-9444-8322-CADC-42D31D698FA8}"/>
              </a:ext>
            </a:extLst>
          </p:cNvPr>
          <p:cNvSpPr txBox="1">
            <a:spLocks/>
          </p:cNvSpPr>
          <p:nvPr/>
        </p:nvSpPr>
        <p:spPr>
          <a:xfrm>
            <a:off x="5320549" y="4548553"/>
            <a:ext cx="4275138" cy="1900421"/>
          </a:xfrm>
          <a:prstGeom prst="rect">
            <a:avLst/>
          </a:prstGeom>
        </p:spPr>
        <p:txBody>
          <a:bodyPr vert="horz" lIns="91440" tIns="45720" rIns="91440" bIns="45720" rtlCol="0">
            <a:normAutofit/>
          </a:bodyPr>
          <a:lstStyle/>
          <a:p>
            <a:pPr lvl="0">
              <a:spcBef>
                <a:spcPts val="1000"/>
              </a:spcBef>
              <a:buClr>
                <a:schemeClr val="accent4"/>
              </a:buClr>
              <a:buSzPct val="80000"/>
            </a:pPr>
            <a:r>
              <a:rPr lang="en-US" sz="1600" dirty="0" smtClean="0">
                <a:latin typeface="Times New Roman" pitchFamily="18" charset="0"/>
                <a:cs typeface="Times New Roman" pitchFamily="18" charset="0"/>
              </a:rPr>
              <a:t>This pie chart shows the percentage distribution of records across seasons, with </a:t>
            </a:r>
            <a:r>
              <a:rPr lang="en-US" sz="1600" b="1" dirty="0" err="1" smtClean="0">
                <a:latin typeface="Times New Roman" pitchFamily="18" charset="0"/>
                <a:cs typeface="Times New Roman" pitchFamily="18" charset="0"/>
              </a:rPr>
              <a:t>Kharif</a:t>
            </a:r>
            <a:r>
              <a:rPr lang="en-US" sz="1600" dirty="0" smtClean="0">
                <a:latin typeface="Times New Roman" pitchFamily="18" charset="0"/>
                <a:cs typeface="Times New Roman" pitchFamily="18" charset="0"/>
              </a:rPr>
              <a:t> comprising the largest share at 44.5%, followed closely by </a:t>
            </a:r>
            <a:r>
              <a:rPr lang="en-US" sz="1600" b="1" dirty="0" smtClean="0">
                <a:latin typeface="Times New Roman" pitchFamily="18" charset="0"/>
                <a:cs typeface="Times New Roman" pitchFamily="18" charset="0"/>
              </a:rPr>
              <a:t>Rabi</a:t>
            </a:r>
            <a:r>
              <a:rPr lang="en-US" sz="1600" dirty="0" smtClean="0">
                <a:latin typeface="Times New Roman" pitchFamily="18" charset="0"/>
                <a:cs typeface="Times New Roman" pitchFamily="18" charset="0"/>
              </a:rPr>
              <a:t> at 40.7%, while </a:t>
            </a:r>
            <a:r>
              <a:rPr lang="en-US" sz="1600" b="1" dirty="0" err="1" smtClean="0">
                <a:latin typeface="Times New Roman" pitchFamily="18" charset="0"/>
                <a:cs typeface="Times New Roman" pitchFamily="18" charset="0"/>
              </a:rPr>
              <a:t>Zaid</a:t>
            </a:r>
            <a:r>
              <a:rPr lang="en-US" sz="1600" dirty="0" smtClean="0">
                <a:latin typeface="Times New Roman" pitchFamily="18" charset="0"/>
                <a:cs typeface="Times New Roman" pitchFamily="18" charset="0"/>
              </a:rPr>
              <a:t> accounts for the remaining 14.8%.</a:t>
            </a:r>
            <a:endParaRPr kumimoji="0" lang="en-IN" sz="1600" b="0" i="0" u="none" strike="noStrike" kern="1200" cap="none" spc="0" normalizeH="0" baseline="0" noProof="0" dirty="0">
              <a:ln>
                <a:noFill/>
              </a:ln>
              <a:solidFill>
                <a:schemeClr val="tx1">
                  <a:lumMod val="75000"/>
                  <a:lumOff val="25000"/>
                </a:schemeClr>
              </a:solidFill>
              <a:effectLst/>
              <a:uLnTx/>
              <a:uFillTx/>
              <a:latin typeface="Times New Roman" pitchFamily="18" charset="0"/>
              <a:cs typeface="Times New Roman" pitchFamily="18" charset="0"/>
            </a:endParaRPr>
          </a:p>
        </p:txBody>
      </p:sp>
    </p:spTree>
    <p:extLst>
      <p:ext uri="{BB962C8B-B14F-4D97-AF65-F5344CB8AC3E}">
        <p14:creationId xmlns=""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2">
                                            <p:txEl>
                                              <p:pRg st="0" end="0"/>
                                            </p:txEl>
                                          </p:spTgt>
                                        </p:tgtEl>
                                        <p:attrNameLst>
                                          <p:attrName>style.visibility</p:attrName>
                                        </p:attrNameLst>
                                      </p:cBhvr>
                                      <p:to>
                                        <p:strVal val="visible"/>
                                      </p:to>
                                    </p:set>
                                    <p:animEffect transition="in" filter="fade">
                                      <p:cBhvr>
                                        <p:cTn id="35" dur="1000"/>
                                        <p:tgtEl>
                                          <p:spTgt spid="12">
                                            <p:txEl>
                                              <p:pRg st="0" end="0"/>
                                            </p:txEl>
                                          </p:spTgt>
                                        </p:tgtEl>
                                      </p:cBhvr>
                                    </p:animEffect>
                                    <p:anim calcmode="lin" valueType="num">
                                      <p:cBhvr>
                                        <p:cTn id="36"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1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P spid="12"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latin typeface="Times New Roman" pitchFamily="18" charset="0"/>
                <a:cs typeface="Times New Roman" pitchFamily="18" charset="0"/>
              </a:rPr>
              <a:t>RESULTS</a:t>
            </a:r>
            <a:r>
              <a:rPr lang="en-GB" dirty="0"/>
              <a:t> </a:t>
            </a:r>
            <a:endParaRPr lang="en-IN" dirty="0"/>
          </a:p>
        </p:txBody>
      </p:sp>
      <p:sp>
        <p:nvSpPr>
          <p:cNvPr id="7" name="Text Placeholder 30">
            <a:extLst>
              <a:ext uri="{FF2B5EF4-FFF2-40B4-BE49-F238E27FC236}">
                <a16:creationId xmlns="" xmlns:a16="http://schemas.microsoft.com/office/drawing/2014/main" id="{5A2A9BCE-A757-223C-2A3D-44341FB27A61}"/>
              </a:ext>
            </a:extLst>
          </p:cNvPr>
          <p:cNvSpPr txBox="1">
            <a:spLocks/>
          </p:cNvSpPr>
          <p:nvPr/>
        </p:nvSpPr>
        <p:spPr>
          <a:xfrm>
            <a:off x="452866" y="5600701"/>
            <a:ext cx="3343561" cy="747346"/>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 xmlns:a16="http://schemas.microsoft.com/office/drawing/2014/main" id="{F85C769B-425A-FE3B-E47A-3B747985DC52}"/>
              </a:ext>
            </a:extLst>
          </p:cNvPr>
          <p:cNvSpPr>
            <a:spLocks noGrp="1"/>
          </p:cNvSpPr>
          <p:nvPr>
            <p:ph type="body" sz="quarter" idx="12"/>
          </p:nvPr>
        </p:nvSpPr>
        <p:spPr>
          <a:xfrm>
            <a:off x="569772" y="4677508"/>
            <a:ext cx="4275138" cy="1900421"/>
          </a:xfrm>
        </p:spPr>
        <p:txBody>
          <a:bodyPr>
            <a:normAutofit fontScale="85000" lnSpcReduction="20000"/>
          </a:bodyPr>
          <a:lstStyle/>
          <a:p>
            <a:pPr marL="0" indent="0">
              <a:buNone/>
            </a:pPr>
            <a:r>
              <a:rPr lang="en-US" dirty="0" smtClean="0">
                <a:latin typeface="Times New Roman" pitchFamily="18" charset="0"/>
                <a:cs typeface="Times New Roman" pitchFamily="18" charset="0"/>
              </a:rPr>
              <a:t>This </a:t>
            </a:r>
            <a:r>
              <a:rPr lang="en-US" dirty="0" err="1" smtClean="0">
                <a:latin typeface="Times New Roman" pitchFamily="18" charset="0"/>
                <a:cs typeface="Times New Roman" pitchFamily="18" charset="0"/>
              </a:rPr>
              <a:t>boxplot</a:t>
            </a:r>
            <a:r>
              <a:rPr lang="en-US" dirty="0" smtClean="0">
                <a:latin typeface="Times New Roman" pitchFamily="18" charset="0"/>
                <a:cs typeface="Times New Roman" pitchFamily="18" charset="0"/>
              </a:rPr>
              <a:t> compares yield distributions across seasons, showing that while median yields remain low and consistent (between 0 and 5 </a:t>
            </a:r>
            <a:r>
              <a:rPr lang="en-US" dirty="0" err="1" smtClean="0">
                <a:latin typeface="Times New Roman" pitchFamily="18" charset="0"/>
                <a:cs typeface="Times New Roman" pitchFamily="18" charset="0"/>
              </a:rPr>
              <a:t>tonnes</a:t>
            </a:r>
            <a:r>
              <a:rPr lang="en-US" dirty="0" smtClean="0">
                <a:latin typeface="Times New Roman" pitchFamily="18" charset="0"/>
                <a:cs typeface="Times New Roman" pitchFamily="18" charset="0"/>
              </a:rPr>
              <a:t>/ha) for all three, </a:t>
            </a:r>
            <a:r>
              <a:rPr lang="en-US" b="1" dirty="0" err="1" smtClean="0">
                <a:latin typeface="Times New Roman" pitchFamily="18" charset="0"/>
                <a:cs typeface="Times New Roman" pitchFamily="18" charset="0"/>
              </a:rPr>
              <a:t>Kharif</a:t>
            </a:r>
            <a:r>
              <a:rPr lang="en-US" dirty="0" smtClean="0">
                <a:latin typeface="Times New Roman" pitchFamily="18" charset="0"/>
                <a:cs typeface="Times New Roman" pitchFamily="18" charset="0"/>
              </a:rPr>
              <a:t> features the highest top-end outliers reaching up to ~100 </a:t>
            </a:r>
            <a:r>
              <a:rPr lang="en-US" dirty="0" err="1" smtClean="0">
                <a:latin typeface="Times New Roman" pitchFamily="18" charset="0"/>
                <a:cs typeface="Times New Roman" pitchFamily="18" charset="0"/>
              </a:rPr>
              <a:t>tonnes</a:t>
            </a:r>
            <a:r>
              <a:rPr lang="en-US" dirty="0" smtClean="0">
                <a:latin typeface="Times New Roman" pitchFamily="18" charset="0"/>
                <a:cs typeface="Times New Roman" pitchFamily="18" charset="0"/>
              </a:rPr>
              <a:t>/ha, followed by </a:t>
            </a:r>
            <a:r>
              <a:rPr lang="en-US" b="1" dirty="0" smtClean="0">
                <a:latin typeface="Times New Roman" pitchFamily="18" charset="0"/>
                <a:cs typeface="Times New Roman" pitchFamily="18" charset="0"/>
              </a:rPr>
              <a:t>Rabi</a:t>
            </a:r>
            <a:r>
              <a:rPr lang="en-US" dirty="0" smtClean="0">
                <a:latin typeface="Times New Roman" pitchFamily="18" charset="0"/>
                <a:cs typeface="Times New Roman" pitchFamily="18" charset="0"/>
              </a:rPr>
              <a:t> (~93 </a:t>
            </a:r>
            <a:r>
              <a:rPr lang="en-US" dirty="0" err="1" smtClean="0">
                <a:latin typeface="Times New Roman" pitchFamily="18" charset="0"/>
                <a:cs typeface="Times New Roman" pitchFamily="18" charset="0"/>
              </a:rPr>
              <a:t>tonnes</a:t>
            </a:r>
            <a:r>
              <a:rPr lang="en-US" dirty="0" smtClean="0">
                <a:latin typeface="Times New Roman" pitchFamily="18" charset="0"/>
                <a:cs typeface="Times New Roman" pitchFamily="18" charset="0"/>
              </a:rPr>
              <a:t>/ha), and </a:t>
            </a:r>
            <a:r>
              <a:rPr lang="en-US" b="1" dirty="0" err="1" smtClean="0">
                <a:latin typeface="Times New Roman" pitchFamily="18" charset="0"/>
                <a:cs typeface="Times New Roman" pitchFamily="18" charset="0"/>
              </a:rPr>
              <a:t>Zaid</a:t>
            </a:r>
            <a:r>
              <a:rPr lang="en-US" dirty="0" smtClean="0">
                <a:latin typeface="Times New Roman" pitchFamily="18" charset="0"/>
                <a:cs typeface="Times New Roman" pitchFamily="18" charset="0"/>
              </a:rPr>
              <a:t> with a lower peak (~65 </a:t>
            </a:r>
            <a:r>
              <a:rPr lang="en-US" dirty="0" err="1" smtClean="0">
                <a:latin typeface="Times New Roman" pitchFamily="18" charset="0"/>
                <a:cs typeface="Times New Roman" pitchFamily="18" charset="0"/>
              </a:rPr>
              <a:t>tonnes</a:t>
            </a:r>
            <a:r>
              <a:rPr lang="en-US" dirty="0" smtClean="0">
                <a:latin typeface="Times New Roman" pitchFamily="18" charset="0"/>
                <a:cs typeface="Times New Roman" pitchFamily="18" charset="0"/>
              </a:rPr>
              <a:t>/ha).</a:t>
            </a:r>
            <a:endParaRPr lang="en-IN" dirty="0">
              <a:latin typeface="Times New Roman" pitchFamily="18" charset="0"/>
              <a:cs typeface="Times New Roman" pitchFamily="18" charset="0"/>
            </a:endParaRPr>
          </a:p>
        </p:txBody>
      </p:sp>
      <p:pic>
        <p:nvPicPr>
          <p:cNvPr id="9" name="Picture 8" descr="Screenshot 2026-09-09 223507.png"/>
          <p:cNvPicPr>
            <a:picLocks noChangeAspect="1"/>
          </p:cNvPicPr>
          <p:nvPr/>
        </p:nvPicPr>
        <p:blipFill>
          <a:blip r:embed="rId3"/>
          <a:stretch>
            <a:fillRect/>
          </a:stretch>
        </p:blipFill>
        <p:spPr>
          <a:xfrm>
            <a:off x="503540" y="1380233"/>
            <a:ext cx="4481698" cy="2901621"/>
          </a:xfrm>
          <a:prstGeom prst="rect">
            <a:avLst/>
          </a:prstGeom>
        </p:spPr>
      </p:pic>
      <p:pic>
        <p:nvPicPr>
          <p:cNvPr id="11" name="Picture 10" descr="Screenshot 2026-09-09 223635.png"/>
          <p:cNvPicPr>
            <a:picLocks noChangeAspect="1"/>
          </p:cNvPicPr>
          <p:nvPr/>
        </p:nvPicPr>
        <p:blipFill>
          <a:blip r:embed="rId4"/>
          <a:stretch>
            <a:fillRect/>
          </a:stretch>
        </p:blipFill>
        <p:spPr>
          <a:xfrm>
            <a:off x="5539153" y="1283677"/>
            <a:ext cx="4035669" cy="2875085"/>
          </a:xfrm>
          <a:prstGeom prst="rect">
            <a:avLst/>
          </a:prstGeom>
        </p:spPr>
      </p:pic>
      <p:sp>
        <p:nvSpPr>
          <p:cNvPr id="12" name="Text Placeholder 1">
            <a:extLst>
              <a:ext uri="{FF2B5EF4-FFF2-40B4-BE49-F238E27FC236}">
                <a16:creationId xmlns="" xmlns:a16="http://schemas.microsoft.com/office/drawing/2014/main" id="{F85C769B-425A-FE3B-E47A-3B747985DC52}"/>
              </a:ext>
            </a:extLst>
          </p:cNvPr>
          <p:cNvSpPr txBox="1">
            <a:spLocks/>
          </p:cNvSpPr>
          <p:nvPr/>
        </p:nvSpPr>
        <p:spPr>
          <a:xfrm>
            <a:off x="5557941" y="4654062"/>
            <a:ext cx="4275138" cy="1900421"/>
          </a:xfrm>
          <a:prstGeom prst="rect">
            <a:avLst/>
          </a:prstGeom>
        </p:spPr>
        <p:txBody>
          <a:bodyPr vert="horz" lIns="91440" tIns="45720" rIns="91440" bIns="45720" rtlCol="0">
            <a:normAutofit/>
          </a:bodyPr>
          <a:lstStyle/>
          <a:p>
            <a:pPr lvl="0">
              <a:spcBef>
                <a:spcPts val="1000"/>
              </a:spcBef>
              <a:buClr>
                <a:schemeClr val="accent4"/>
              </a:buClr>
              <a:buSzPct val="80000"/>
            </a:pPr>
            <a:r>
              <a:rPr lang="en-US" sz="1600" dirty="0" smtClean="0">
                <a:latin typeface="Times New Roman" pitchFamily="18" charset="0"/>
                <a:cs typeface="Times New Roman" pitchFamily="18" charset="0"/>
              </a:rPr>
              <a:t>This bar chart shows the average yield across agricultural seasons, with </a:t>
            </a:r>
            <a:r>
              <a:rPr lang="en-US" sz="1600" b="1" dirty="0" err="1" smtClean="0">
                <a:latin typeface="Times New Roman" pitchFamily="18" charset="0"/>
                <a:cs typeface="Times New Roman" pitchFamily="18" charset="0"/>
              </a:rPr>
              <a:t>Kharif</a:t>
            </a:r>
            <a:r>
              <a:rPr lang="en-US" sz="1600" dirty="0" smtClean="0">
                <a:latin typeface="Times New Roman" pitchFamily="18" charset="0"/>
                <a:cs typeface="Times New Roman" pitchFamily="18" charset="0"/>
              </a:rPr>
              <a:t> recording the highest mean yield at approximately 5.6 </a:t>
            </a:r>
            <a:r>
              <a:rPr lang="en-US" sz="1600" dirty="0" err="1" smtClean="0">
                <a:latin typeface="Times New Roman" pitchFamily="18" charset="0"/>
                <a:cs typeface="Times New Roman" pitchFamily="18" charset="0"/>
              </a:rPr>
              <a:t>tonnes</a:t>
            </a:r>
            <a:r>
              <a:rPr lang="en-US" sz="1600" dirty="0" smtClean="0">
                <a:latin typeface="Times New Roman" pitchFamily="18" charset="0"/>
                <a:cs typeface="Times New Roman" pitchFamily="18" charset="0"/>
              </a:rPr>
              <a:t>/ha, followed by </a:t>
            </a:r>
            <a:r>
              <a:rPr lang="en-US" sz="1600" b="1" dirty="0" smtClean="0">
                <a:latin typeface="Times New Roman" pitchFamily="18" charset="0"/>
                <a:cs typeface="Times New Roman" pitchFamily="18" charset="0"/>
              </a:rPr>
              <a:t>Rabi</a:t>
            </a:r>
            <a:r>
              <a:rPr lang="en-US" sz="1600" dirty="0" smtClean="0">
                <a:latin typeface="Times New Roman" pitchFamily="18" charset="0"/>
                <a:cs typeface="Times New Roman" pitchFamily="18" charset="0"/>
              </a:rPr>
              <a:t> at around 5.0 </a:t>
            </a:r>
            <a:r>
              <a:rPr lang="en-US" sz="1600" dirty="0" err="1" smtClean="0">
                <a:latin typeface="Times New Roman" pitchFamily="18" charset="0"/>
                <a:cs typeface="Times New Roman" pitchFamily="18" charset="0"/>
              </a:rPr>
              <a:t>tonnes</a:t>
            </a:r>
            <a:r>
              <a:rPr lang="en-US" sz="1600" dirty="0" smtClean="0">
                <a:latin typeface="Times New Roman" pitchFamily="18" charset="0"/>
                <a:cs typeface="Times New Roman" pitchFamily="18" charset="0"/>
              </a:rPr>
              <a:t>/ha, and </a:t>
            </a:r>
            <a:r>
              <a:rPr lang="en-US" sz="1600" b="1" dirty="0" err="1" smtClean="0">
                <a:latin typeface="Times New Roman" pitchFamily="18" charset="0"/>
                <a:cs typeface="Times New Roman" pitchFamily="18" charset="0"/>
              </a:rPr>
              <a:t>Zaid</a:t>
            </a:r>
            <a:r>
              <a:rPr lang="en-US" sz="1600" dirty="0" smtClean="0">
                <a:latin typeface="Times New Roman" pitchFamily="18" charset="0"/>
                <a:cs typeface="Times New Roman" pitchFamily="18" charset="0"/>
              </a:rPr>
              <a:t> with the lowest average yield near 4.6 </a:t>
            </a:r>
            <a:r>
              <a:rPr lang="en-US" sz="1600" dirty="0" err="1" smtClean="0">
                <a:latin typeface="Times New Roman" pitchFamily="18" charset="0"/>
                <a:cs typeface="Times New Roman" pitchFamily="18" charset="0"/>
              </a:rPr>
              <a:t>tonnes</a:t>
            </a:r>
            <a:r>
              <a:rPr lang="en-US" sz="1600" dirty="0" smtClean="0">
                <a:latin typeface="Times New Roman" pitchFamily="18" charset="0"/>
                <a:cs typeface="Times New Roman" pitchFamily="18" charset="0"/>
              </a:rPr>
              <a:t>/ha.</a:t>
            </a:r>
            <a:endParaRPr kumimoji="0" lang="en-IN" sz="1600" b="0" i="0" u="none" strike="noStrike" kern="1200" cap="none" spc="0" normalizeH="0" baseline="0" noProof="0" dirty="0">
              <a:ln>
                <a:noFill/>
              </a:ln>
              <a:solidFill>
                <a:schemeClr val="tx1">
                  <a:lumMod val="75000"/>
                  <a:lumOff val="25000"/>
                </a:schemeClr>
              </a:solidFill>
              <a:effectLst/>
              <a:uLnTx/>
              <a:uFillTx/>
              <a:latin typeface="Times New Roman" pitchFamily="18" charset="0"/>
              <a:cs typeface="Times New Roman" pitchFamily="18" charset="0"/>
            </a:endParaRPr>
          </a:p>
        </p:txBody>
      </p:sp>
    </p:spTree>
    <p:extLst>
      <p:ext uri="{BB962C8B-B14F-4D97-AF65-F5344CB8AC3E}">
        <p14:creationId xmlns=""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2">
                                            <p:txEl>
                                              <p:pRg st="0" end="0"/>
                                            </p:txEl>
                                          </p:spTgt>
                                        </p:tgtEl>
                                        <p:attrNameLst>
                                          <p:attrName>style.visibility</p:attrName>
                                        </p:attrNameLst>
                                      </p:cBhvr>
                                      <p:to>
                                        <p:strVal val="visible"/>
                                      </p:to>
                                    </p:set>
                                    <p:animEffect transition="in" filter="fade">
                                      <p:cBhvr>
                                        <p:cTn id="35" dur="1000"/>
                                        <p:tgtEl>
                                          <p:spTgt spid="12">
                                            <p:txEl>
                                              <p:pRg st="0" end="0"/>
                                            </p:txEl>
                                          </p:spTgt>
                                        </p:tgtEl>
                                      </p:cBhvr>
                                    </p:animEffect>
                                    <p:anim calcmode="lin" valueType="num">
                                      <p:cBhvr>
                                        <p:cTn id="36"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1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P spid="12"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latin typeface="Times New Roman" pitchFamily="18" charset="0"/>
                <a:cs typeface="Times New Roman" pitchFamily="18" charset="0"/>
              </a:rPr>
              <a:t>RESULTS</a:t>
            </a:r>
            <a:r>
              <a:rPr lang="en-GB" dirty="0"/>
              <a:t> </a:t>
            </a:r>
            <a:endParaRPr lang="en-IN" dirty="0"/>
          </a:p>
        </p:txBody>
      </p:sp>
      <p:sp>
        <p:nvSpPr>
          <p:cNvPr id="7" name="Text Placeholder 30">
            <a:extLst>
              <a:ext uri="{FF2B5EF4-FFF2-40B4-BE49-F238E27FC236}">
                <a16:creationId xmlns=""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 xmlns:a16="http://schemas.microsoft.com/office/drawing/2014/main" id="{F85C769B-425A-FE3B-E47A-3B747985DC52}"/>
              </a:ext>
            </a:extLst>
          </p:cNvPr>
          <p:cNvSpPr>
            <a:spLocks noGrp="1"/>
          </p:cNvSpPr>
          <p:nvPr>
            <p:ph type="body" sz="quarter" idx="12"/>
          </p:nvPr>
        </p:nvSpPr>
        <p:spPr>
          <a:xfrm>
            <a:off x="701657" y="4677508"/>
            <a:ext cx="4275138" cy="1838874"/>
          </a:xfrm>
        </p:spPr>
        <p:txBody>
          <a:bodyPr>
            <a:noAutofit/>
          </a:bodyPr>
          <a:lstStyle/>
          <a:p>
            <a:pPr marL="0" indent="0">
              <a:buNone/>
            </a:pPr>
            <a:r>
              <a:rPr lang="en-US" sz="1600" dirty="0" smtClean="0">
                <a:latin typeface="Times New Roman" pitchFamily="18" charset="0"/>
                <a:cs typeface="Times New Roman" pitchFamily="18" charset="0"/>
              </a:rPr>
              <a:t>This </a:t>
            </a:r>
            <a:r>
              <a:rPr lang="en-US" sz="1600" dirty="0" err="1" smtClean="0">
                <a:latin typeface="Times New Roman" pitchFamily="18" charset="0"/>
                <a:cs typeface="Times New Roman" pitchFamily="18" charset="0"/>
              </a:rPr>
              <a:t>boxplot</a:t>
            </a:r>
            <a:r>
              <a:rPr lang="en-US" sz="1600" dirty="0" smtClean="0">
                <a:latin typeface="Times New Roman" pitchFamily="18" charset="0"/>
                <a:cs typeface="Times New Roman" pitchFamily="18" charset="0"/>
              </a:rPr>
              <a:t> illustrates profit distribution across seasons: median profits stay near zero for all three, but </a:t>
            </a:r>
            <a:r>
              <a:rPr lang="en-US" sz="1600" b="1" dirty="0" err="1" smtClean="0">
                <a:latin typeface="Times New Roman" pitchFamily="18" charset="0"/>
                <a:cs typeface="Times New Roman" pitchFamily="18" charset="0"/>
              </a:rPr>
              <a:t>Kharif</a:t>
            </a:r>
            <a:r>
              <a:rPr lang="en-US" sz="1600" dirty="0" smtClean="0">
                <a:latin typeface="Times New Roman" pitchFamily="18" charset="0"/>
                <a:cs typeface="Times New Roman" pitchFamily="18" charset="0"/>
              </a:rPr>
              <a:t> generates the highest positive outliers up to ~4.3 million INR, followed by </a:t>
            </a:r>
            <a:r>
              <a:rPr lang="en-US" sz="1600" b="1" dirty="0" smtClean="0">
                <a:latin typeface="Times New Roman" pitchFamily="18" charset="0"/>
                <a:cs typeface="Times New Roman" pitchFamily="18" charset="0"/>
              </a:rPr>
              <a:t>Rabi</a:t>
            </a:r>
            <a:r>
              <a:rPr lang="en-US" sz="1600" dirty="0" smtClean="0">
                <a:latin typeface="Times New Roman" pitchFamily="18" charset="0"/>
                <a:cs typeface="Times New Roman" pitchFamily="18" charset="0"/>
              </a:rPr>
              <a:t> reaching ~3.4 million INR, and </a:t>
            </a:r>
            <a:r>
              <a:rPr lang="en-US" sz="1600" b="1" dirty="0" err="1" smtClean="0">
                <a:latin typeface="Times New Roman" pitchFamily="18" charset="0"/>
                <a:cs typeface="Times New Roman" pitchFamily="18" charset="0"/>
              </a:rPr>
              <a:t>Zaid</a:t>
            </a:r>
            <a:r>
              <a:rPr lang="en-US" sz="1600" dirty="0" smtClean="0">
                <a:latin typeface="Times New Roman" pitchFamily="18" charset="0"/>
                <a:cs typeface="Times New Roman" pitchFamily="18" charset="0"/>
              </a:rPr>
              <a:t> topping out around 2.4 million INR, while all seasons experience similar loss extremes down to -1.0 million INR.</a:t>
            </a:r>
            <a:endParaRPr lang="en-IN" sz="1600" dirty="0">
              <a:latin typeface="Times New Roman" pitchFamily="18" charset="0"/>
              <a:cs typeface="Times New Roman" pitchFamily="18" charset="0"/>
            </a:endParaRPr>
          </a:p>
        </p:txBody>
      </p:sp>
      <p:pic>
        <p:nvPicPr>
          <p:cNvPr id="9" name="Picture 8" descr="Screenshot 2026-09-09 223859.png"/>
          <p:cNvPicPr>
            <a:picLocks noChangeAspect="1"/>
          </p:cNvPicPr>
          <p:nvPr/>
        </p:nvPicPr>
        <p:blipFill>
          <a:blip r:embed="rId3"/>
          <a:stretch>
            <a:fillRect/>
          </a:stretch>
        </p:blipFill>
        <p:spPr>
          <a:xfrm>
            <a:off x="422065" y="1351513"/>
            <a:ext cx="4264235" cy="3000679"/>
          </a:xfrm>
          <a:prstGeom prst="rect">
            <a:avLst/>
          </a:prstGeom>
        </p:spPr>
      </p:pic>
      <p:pic>
        <p:nvPicPr>
          <p:cNvPr id="11" name="Picture 10" descr="Screenshot 2026-09-09 224022.png"/>
          <p:cNvPicPr>
            <a:picLocks noChangeAspect="1"/>
          </p:cNvPicPr>
          <p:nvPr/>
        </p:nvPicPr>
        <p:blipFill>
          <a:blip r:embed="rId4"/>
          <a:stretch>
            <a:fillRect/>
          </a:stretch>
        </p:blipFill>
        <p:spPr>
          <a:xfrm>
            <a:off x="5009602" y="1514758"/>
            <a:ext cx="4362998" cy="2600042"/>
          </a:xfrm>
          <a:prstGeom prst="rect">
            <a:avLst/>
          </a:prstGeom>
        </p:spPr>
      </p:pic>
      <p:sp>
        <p:nvSpPr>
          <p:cNvPr id="12" name="Text Placeholder 1">
            <a:extLst>
              <a:ext uri="{FF2B5EF4-FFF2-40B4-BE49-F238E27FC236}">
                <a16:creationId xmlns="" xmlns:a16="http://schemas.microsoft.com/office/drawing/2014/main" id="{F85C769B-425A-FE3B-E47A-3B747985DC52}"/>
              </a:ext>
            </a:extLst>
          </p:cNvPr>
          <p:cNvSpPr txBox="1">
            <a:spLocks/>
          </p:cNvSpPr>
          <p:nvPr/>
        </p:nvSpPr>
        <p:spPr>
          <a:xfrm>
            <a:off x="5259003" y="4636477"/>
            <a:ext cx="4275138" cy="1838874"/>
          </a:xfrm>
          <a:prstGeom prst="rect">
            <a:avLst/>
          </a:prstGeom>
        </p:spPr>
        <p:txBody>
          <a:bodyPr vert="horz" lIns="91440" tIns="45720" rIns="91440" bIns="45720" rtlCol="0">
            <a:normAutofit/>
          </a:bodyPr>
          <a:lstStyle/>
          <a:p>
            <a:pPr lvl="0">
              <a:spcBef>
                <a:spcPts val="1000"/>
              </a:spcBef>
              <a:buClr>
                <a:schemeClr val="accent4"/>
              </a:buClr>
              <a:buSzPct val="80000"/>
            </a:pPr>
            <a:r>
              <a:rPr lang="en-US" sz="1600" dirty="0" smtClean="0">
                <a:latin typeface="Times New Roman" pitchFamily="18" charset="0"/>
                <a:cs typeface="Times New Roman" pitchFamily="18" charset="0"/>
              </a:rPr>
              <a:t>This bar chart shows the average profit across agricultural seasons, with </a:t>
            </a:r>
            <a:r>
              <a:rPr lang="en-US" sz="1600" b="1" dirty="0" err="1" smtClean="0">
                <a:latin typeface="Times New Roman" pitchFamily="18" charset="0"/>
                <a:cs typeface="Times New Roman" pitchFamily="18" charset="0"/>
              </a:rPr>
              <a:t>Kharif</a:t>
            </a:r>
            <a:r>
              <a:rPr lang="en-US" sz="1600" dirty="0" smtClean="0">
                <a:latin typeface="Times New Roman" pitchFamily="18" charset="0"/>
                <a:cs typeface="Times New Roman" pitchFamily="18" charset="0"/>
              </a:rPr>
              <a:t> yielding the highest mean profit at approximately 178,000 INR, followed by </a:t>
            </a:r>
            <a:r>
              <a:rPr lang="en-US" sz="1600" b="1" dirty="0" smtClean="0">
                <a:latin typeface="Times New Roman" pitchFamily="18" charset="0"/>
                <a:cs typeface="Times New Roman" pitchFamily="18" charset="0"/>
              </a:rPr>
              <a:t>Rabi</a:t>
            </a:r>
            <a:r>
              <a:rPr lang="en-US" sz="1600" dirty="0" smtClean="0">
                <a:latin typeface="Times New Roman" pitchFamily="18" charset="0"/>
                <a:cs typeface="Times New Roman" pitchFamily="18" charset="0"/>
              </a:rPr>
              <a:t> at around 87,000 INR, while </a:t>
            </a:r>
            <a:r>
              <a:rPr lang="en-US" sz="1600" b="1" dirty="0" err="1" smtClean="0">
                <a:latin typeface="Times New Roman" pitchFamily="18" charset="0"/>
                <a:cs typeface="Times New Roman" pitchFamily="18" charset="0"/>
              </a:rPr>
              <a:t>Zaid</a:t>
            </a:r>
            <a:r>
              <a:rPr lang="en-US" sz="1600" dirty="0" smtClean="0">
                <a:latin typeface="Times New Roman" pitchFamily="18" charset="0"/>
                <a:cs typeface="Times New Roman" pitchFamily="18" charset="0"/>
              </a:rPr>
              <a:t> experiences a negative average profit of roughly -25,000 INR.</a:t>
            </a:r>
            <a:endParaRPr kumimoji="0" lang="en-IN" sz="1600" b="0" i="0" u="none" strike="noStrike" kern="1200" cap="none" spc="0" normalizeH="0" baseline="0" noProof="0" dirty="0">
              <a:ln>
                <a:noFill/>
              </a:ln>
              <a:solidFill>
                <a:schemeClr val="tx1">
                  <a:lumMod val="75000"/>
                  <a:lumOff val="25000"/>
                </a:schemeClr>
              </a:solidFill>
              <a:effectLst/>
              <a:uLnTx/>
              <a:uFillTx/>
              <a:latin typeface="Times New Roman" pitchFamily="18" charset="0"/>
              <a:cs typeface="Times New Roman" pitchFamily="18" charset="0"/>
            </a:endParaRPr>
          </a:p>
        </p:txBody>
      </p:sp>
    </p:spTree>
    <p:extLst>
      <p:ext uri="{BB962C8B-B14F-4D97-AF65-F5344CB8AC3E}">
        <p14:creationId xmlns=""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2">
                                            <p:txEl>
                                              <p:pRg st="0" end="0"/>
                                            </p:txEl>
                                          </p:spTgt>
                                        </p:tgtEl>
                                        <p:attrNameLst>
                                          <p:attrName>style.visibility</p:attrName>
                                        </p:attrNameLst>
                                      </p:cBhvr>
                                      <p:to>
                                        <p:strVal val="visible"/>
                                      </p:to>
                                    </p:set>
                                    <p:animEffect transition="in" filter="fade">
                                      <p:cBhvr>
                                        <p:cTn id="35" dur="1000"/>
                                        <p:tgtEl>
                                          <p:spTgt spid="12">
                                            <p:txEl>
                                              <p:pRg st="0" end="0"/>
                                            </p:txEl>
                                          </p:spTgt>
                                        </p:tgtEl>
                                      </p:cBhvr>
                                    </p:animEffect>
                                    <p:anim calcmode="lin" valueType="num">
                                      <p:cBhvr>
                                        <p:cTn id="36"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1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P spid="12"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latin typeface="Times New Roman" pitchFamily="18" charset="0"/>
                <a:cs typeface="Times New Roman" pitchFamily="18" charset="0"/>
              </a:rPr>
              <a:t>RESULTS</a:t>
            </a:r>
            <a:r>
              <a:rPr lang="en-GB" dirty="0"/>
              <a:t> </a:t>
            </a:r>
            <a:endParaRPr lang="en-IN" dirty="0"/>
          </a:p>
        </p:txBody>
      </p:sp>
      <p:sp>
        <p:nvSpPr>
          <p:cNvPr id="7" name="Text Placeholder 30">
            <a:extLst>
              <a:ext uri="{FF2B5EF4-FFF2-40B4-BE49-F238E27FC236}">
                <a16:creationId xmlns=""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 xmlns:a16="http://schemas.microsoft.com/office/drawing/2014/main" id="{F85C769B-425A-FE3B-E47A-3B747985DC52}"/>
              </a:ext>
            </a:extLst>
          </p:cNvPr>
          <p:cNvSpPr>
            <a:spLocks noGrp="1"/>
          </p:cNvSpPr>
          <p:nvPr>
            <p:ph type="body" sz="quarter" idx="12"/>
          </p:nvPr>
        </p:nvSpPr>
        <p:spPr>
          <a:xfrm>
            <a:off x="684072" y="4378569"/>
            <a:ext cx="4275138" cy="1891628"/>
          </a:xfrm>
        </p:spPr>
        <p:txBody>
          <a:bodyPr>
            <a:noAutofit/>
          </a:bodyPr>
          <a:lstStyle/>
          <a:p>
            <a:pPr marL="0" indent="0">
              <a:buNone/>
            </a:pPr>
            <a:r>
              <a:rPr lang="en-US" sz="1600" dirty="0" smtClean="0">
                <a:latin typeface="Times New Roman" pitchFamily="18" charset="0"/>
                <a:cs typeface="Times New Roman" pitchFamily="18" charset="0"/>
              </a:rPr>
              <a:t>This scatter plot illustrates the relationship between rainfall and agricultural yield: most data points form a dense baseline cluster under 5 </a:t>
            </a:r>
            <a:r>
              <a:rPr lang="en-US" sz="1600" dirty="0" err="1" smtClean="0">
                <a:latin typeface="Times New Roman" pitchFamily="18" charset="0"/>
                <a:cs typeface="Times New Roman" pitchFamily="18" charset="0"/>
              </a:rPr>
              <a:t>tonnes</a:t>
            </a:r>
            <a:r>
              <a:rPr lang="en-US" sz="1600" dirty="0" smtClean="0">
                <a:latin typeface="Times New Roman" pitchFamily="18" charset="0"/>
                <a:cs typeface="Times New Roman" pitchFamily="18" charset="0"/>
              </a:rPr>
              <a:t>/ha across all rainfall levels (100–1,400 mm), while high-yield outliers (up to 100 </a:t>
            </a:r>
            <a:r>
              <a:rPr lang="en-US" sz="1600" dirty="0" err="1" smtClean="0">
                <a:latin typeface="Times New Roman" pitchFamily="18" charset="0"/>
                <a:cs typeface="Times New Roman" pitchFamily="18" charset="0"/>
              </a:rPr>
              <a:t>tonnes</a:t>
            </a:r>
            <a:r>
              <a:rPr lang="en-US" sz="1600" dirty="0" smtClean="0">
                <a:latin typeface="Times New Roman" pitchFamily="18" charset="0"/>
                <a:cs typeface="Times New Roman" pitchFamily="18" charset="0"/>
              </a:rPr>
              <a:t>/ha) peak primarily between 600 mm and 900 mm of rainfall before thinning out at extreme high and low precipitation levels.</a:t>
            </a:r>
            <a:endParaRPr lang="en-IN" sz="1600" dirty="0">
              <a:latin typeface="Times New Roman" pitchFamily="18" charset="0"/>
              <a:cs typeface="Times New Roman" pitchFamily="18" charset="0"/>
            </a:endParaRPr>
          </a:p>
        </p:txBody>
      </p:sp>
      <p:pic>
        <p:nvPicPr>
          <p:cNvPr id="9" name="Picture 8" descr="Screenshot 2026-09-09 224310.png"/>
          <p:cNvPicPr>
            <a:picLocks noChangeAspect="1"/>
          </p:cNvPicPr>
          <p:nvPr/>
        </p:nvPicPr>
        <p:blipFill>
          <a:blip r:embed="rId3"/>
          <a:stretch>
            <a:fillRect/>
          </a:stretch>
        </p:blipFill>
        <p:spPr>
          <a:xfrm>
            <a:off x="327693" y="1139907"/>
            <a:ext cx="4824599" cy="2930931"/>
          </a:xfrm>
          <a:prstGeom prst="rect">
            <a:avLst/>
          </a:prstGeom>
        </p:spPr>
      </p:pic>
      <p:pic>
        <p:nvPicPr>
          <p:cNvPr id="11" name="Picture 10" descr="Screenshot 2026-09-09 224507.png"/>
          <p:cNvPicPr>
            <a:picLocks noChangeAspect="1"/>
          </p:cNvPicPr>
          <p:nvPr/>
        </p:nvPicPr>
        <p:blipFill>
          <a:blip r:embed="rId4"/>
          <a:stretch>
            <a:fillRect/>
          </a:stretch>
        </p:blipFill>
        <p:spPr>
          <a:xfrm>
            <a:off x="5201852" y="1222131"/>
            <a:ext cx="4715872" cy="2716823"/>
          </a:xfrm>
          <a:prstGeom prst="rect">
            <a:avLst/>
          </a:prstGeom>
        </p:spPr>
      </p:pic>
      <p:sp>
        <p:nvSpPr>
          <p:cNvPr id="12" name="Text Placeholder 1">
            <a:extLst>
              <a:ext uri="{FF2B5EF4-FFF2-40B4-BE49-F238E27FC236}">
                <a16:creationId xmlns="" xmlns:a16="http://schemas.microsoft.com/office/drawing/2014/main" id="{F85C769B-425A-FE3B-E47A-3B747985DC52}"/>
              </a:ext>
            </a:extLst>
          </p:cNvPr>
          <p:cNvSpPr txBox="1">
            <a:spLocks/>
          </p:cNvSpPr>
          <p:nvPr/>
        </p:nvSpPr>
        <p:spPr>
          <a:xfrm>
            <a:off x="5127118" y="4416669"/>
            <a:ext cx="4275138" cy="1891628"/>
          </a:xfrm>
          <a:prstGeom prst="rect">
            <a:avLst/>
          </a:prstGeom>
        </p:spPr>
        <p:txBody>
          <a:bodyPr vert="horz" lIns="91440" tIns="45720" rIns="91440" bIns="45720" rtlCol="0">
            <a:noAutofit/>
          </a:bodyPr>
          <a:lstStyle/>
          <a:p>
            <a:pPr lvl="0">
              <a:spcBef>
                <a:spcPts val="1000"/>
              </a:spcBef>
              <a:buClr>
                <a:schemeClr val="accent4"/>
              </a:buClr>
              <a:buSzPct val="80000"/>
            </a:pPr>
            <a:r>
              <a:rPr lang="en-US" sz="1600" dirty="0" smtClean="0">
                <a:latin typeface="Times New Roman" pitchFamily="18" charset="0"/>
                <a:cs typeface="Times New Roman" pitchFamily="18" charset="0"/>
              </a:rPr>
              <a:t>This scatter plot depicts a positive correlation between farm area and total production, showing that as land size increases up to 15 hectares, maximum production capacity fan-shapes upward toward 1,400 </a:t>
            </a:r>
            <a:r>
              <a:rPr lang="en-US" sz="1600" dirty="0" err="1" smtClean="0">
                <a:latin typeface="Times New Roman" pitchFamily="18" charset="0"/>
                <a:cs typeface="Times New Roman" pitchFamily="18" charset="0"/>
              </a:rPr>
              <a:t>tonnes</a:t>
            </a:r>
            <a:r>
              <a:rPr lang="en-US" sz="1600" dirty="0" smtClean="0">
                <a:latin typeface="Times New Roman" pitchFamily="18" charset="0"/>
                <a:cs typeface="Times New Roman" pitchFamily="18" charset="0"/>
              </a:rPr>
              <a:t>—though a heavy baseline concentration remains under 100 </a:t>
            </a:r>
            <a:r>
              <a:rPr lang="en-US" sz="1600" dirty="0" err="1" smtClean="0">
                <a:latin typeface="Times New Roman" pitchFamily="18" charset="0"/>
                <a:cs typeface="Times New Roman" pitchFamily="18" charset="0"/>
              </a:rPr>
              <a:t>tonnes</a:t>
            </a:r>
            <a:r>
              <a:rPr lang="en-US" sz="1600" dirty="0" smtClean="0">
                <a:latin typeface="Times New Roman" pitchFamily="18" charset="0"/>
                <a:cs typeface="Times New Roman" pitchFamily="18" charset="0"/>
              </a:rPr>
              <a:t> across all farm sizes.</a:t>
            </a:r>
            <a:endParaRPr kumimoji="0" lang="en-IN" sz="1600" b="0" i="0" u="none" strike="noStrike" kern="1200" cap="none" spc="0" normalizeH="0" baseline="0" noProof="0" dirty="0">
              <a:ln>
                <a:noFill/>
              </a:ln>
              <a:solidFill>
                <a:schemeClr val="tx1">
                  <a:lumMod val="75000"/>
                  <a:lumOff val="25000"/>
                </a:schemeClr>
              </a:solidFill>
              <a:effectLst/>
              <a:uLnTx/>
              <a:uFillTx/>
              <a:latin typeface="Times New Roman" pitchFamily="18" charset="0"/>
              <a:cs typeface="Times New Roman" pitchFamily="18" charset="0"/>
            </a:endParaRPr>
          </a:p>
        </p:txBody>
      </p:sp>
    </p:spTree>
    <p:extLst>
      <p:ext uri="{BB962C8B-B14F-4D97-AF65-F5344CB8AC3E}">
        <p14:creationId xmlns=""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2">
                                            <p:txEl>
                                              <p:pRg st="0" end="0"/>
                                            </p:txEl>
                                          </p:spTgt>
                                        </p:tgtEl>
                                        <p:attrNameLst>
                                          <p:attrName>style.visibility</p:attrName>
                                        </p:attrNameLst>
                                      </p:cBhvr>
                                      <p:to>
                                        <p:strVal val="visible"/>
                                      </p:to>
                                    </p:set>
                                    <p:animEffect transition="in" filter="fade">
                                      <p:cBhvr>
                                        <p:cTn id="35" dur="1000"/>
                                        <p:tgtEl>
                                          <p:spTgt spid="12">
                                            <p:txEl>
                                              <p:pRg st="0" end="0"/>
                                            </p:txEl>
                                          </p:spTgt>
                                        </p:tgtEl>
                                      </p:cBhvr>
                                    </p:animEffect>
                                    <p:anim calcmode="lin" valueType="num">
                                      <p:cBhvr>
                                        <p:cTn id="36"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1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P spid="12"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latin typeface="Times New Roman" pitchFamily="18" charset="0"/>
                <a:cs typeface="Times New Roman" pitchFamily="18" charset="0"/>
              </a:rPr>
              <a:t>RESULTS</a:t>
            </a:r>
            <a:r>
              <a:rPr lang="en-GB" dirty="0"/>
              <a:t> </a:t>
            </a:r>
            <a:endParaRPr lang="en-IN" dirty="0"/>
          </a:p>
        </p:txBody>
      </p:sp>
      <p:sp>
        <p:nvSpPr>
          <p:cNvPr id="7" name="Text Placeholder 30">
            <a:extLst>
              <a:ext uri="{FF2B5EF4-FFF2-40B4-BE49-F238E27FC236}">
                <a16:creationId xmlns=""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 xmlns:a16="http://schemas.microsoft.com/office/drawing/2014/main" id="{F85C769B-425A-FE3B-E47A-3B747985DC52}"/>
              </a:ext>
            </a:extLst>
          </p:cNvPr>
          <p:cNvSpPr>
            <a:spLocks noGrp="1"/>
          </p:cNvSpPr>
          <p:nvPr>
            <p:ph type="body" sz="quarter" idx="12"/>
          </p:nvPr>
        </p:nvSpPr>
        <p:spPr>
          <a:xfrm>
            <a:off x="587356" y="4237892"/>
            <a:ext cx="4661652" cy="1891629"/>
          </a:xfrm>
        </p:spPr>
        <p:txBody>
          <a:bodyPr>
            <a:normAutofit/>
          </a:bodyPr>
          <a:lstStyle/>
          <a:p>
            <a:pPr marL="0" indent="0">
              <a:buNone/>
            </a:pPr>
            <a:r>
              <a:rPr lang="en-US" sz="1600" dirty="0" smtClean="0">
                <a:latin typeface="Times New Roman" pitchFamily="18" charset="0"/>
                <a:cs typeface="Times New Roman" pitchFamily="18" charset="0"/>
              </a:rPr>
              <a:t>This bubble plot highlights seasonal clusters along the rainfall axis: </a:t>
            </a:r>
            <a:r>
              <a:rPr lang="en-US" sz="1600" b="1" dirty="0" err="1" smtClean="0">
                <a:latin typeface="Times New Roman" pitchFamily="18" charset="0"/>
                <a:cs typeface="Times New Roman" pitchFamily="18" charset="0"/>
              </a:rPr>
              <a:t>Zaid</a:t>
            </a:r>
            <a:r>
              <a:rPr lang="en-US" sz="1600" dirty="0" smtClean="0">
                <a:latin typeface="Times New Roman" pitchFamily="18" charset="0"/>
                <a:cs typeface="Times New Roman" pitchFamily="18" charset="0"/>
              </a:rPr>
              <a:t> crops concentrate at lower rainfall levels (100–600 mm), </a:t>
            </a:r>
            <a:r>
              <a:rPr lang="en-US" sz="1600" b="1" dirty="0" smtClean="0">
                <a:latin typeface="Times New Roman" pitchFamily="18" charset="0"/>
                <a:cs typeface="Times New Roman" pitchFamily="18" charset="0"/>
              </a:rPr>
              <a:t>Rabi</a:t>
            </a:r>
            <a:r>
              <a:rPr lang="en-US" sz="1600" dirty="0" smtClean="0">
                <a:latin typeface="Times New Roman" pitchFamily="18" charset="0"/>
                <a:cs typeface="Times New Roman" pitchFamily="18" charset="0"/>
              </a:rPr>
              <a:t> spans moderate rainfall (200–850 mm), and </a:t>
            </a:r>
            <a:r>
              <a:rPr lang="en-US" sz="1600" b="1" dirty="0" err="1" smtClean="0">
                <a:latin typeface="Times New Roman" pitchFamily="18" charset="0"/>
                <a:cs typeface="Times New Roman" pitchFamily="18" charset="0"/>
              </a:rPr>
              <a:t>Kharif</a:t>
            </a:r>
            <a:r>
              <a:rPr lang="en-US" sz="1600" dirty="0" smtClean="0">
                <a:latin typeface="Times New Roman" pitchFamily="18" charset="0"/>
                <a:cs typeface="Times New Roman" pitchFamily="18" charset="0"/>
              </a:rPr>
              <a:t> dominates higher rainfall ranges (400–1,400 mm) where the highest yields (up to 100 </a:t>
            </a:r>
            <a:r>
              <a:rPr lang="en-US" sz="1600" dirty="0" err="1" smtClean="0">
                <a:latin typeface="Times New Roman" pitchFamily="18" charset="0"/>
                <a:cs typeface="Times New Roman" pitchFamily="18" charset="0"/>
              </a:rPr>
              <a:t>tonnes</a:t>
            </a:r>
            <a:r>
              <a:rPr lang="en-US" sz="1600" dirty="0" smtClean="0">
                <a:latin typeface="Times New Roman" pitchFamily="18" charset="0"/>
                <a:cs typeface="Times New Roman" pitchFamily="18" charset="0"/>
              </a:rPr>
              <a:t>/ha) occur, with bubble sizes indicating larger farm areas distributed across all seasons.</a:t>
            </a:r>
            <a:endParaRPr lang="en-IN" sz="1600" dirty="0">
              <a:latin typeface="Times New Roman" pitchFamily="18" charset="0"/>
              <a:cs typeface="Times New Roman" pitchFamily="18" charset="0"/>
            </a:endParaRPr>
          </a:p>
        </p:txBody>
      </p:sp>
      <p:pic>
        <p:nvPicPr>
          <p:cNvPr id="9" name="Picture 8" descr="Screenshot 2026-09-09 224810.png"/>
          <p:cNvPicPr>
            <a:picLocks noChangeAspect="1"/>
          </p:cNvPicPr>
          <p:nvPr/>
        </p:nvPicPr>
        <p:blipFill>
          <a:blip r:embed="rId3"/>
          <a:stretch>
            <a:fillRect/>
          </a:stretch>
        </p:blipFill>
        <p:spPr>
          <a:xfrm>
            <a:off x="563609" y="1264467"/>
            <a:ext cx="4694192" cy="2692072"/>
          </a:xfrm>
          <a:prstGeom prst="rect">
            <a:avLst/>
          </a:prstGeom>
        </p:spPr>
      </p:pic>
      <p:pic>
        <p:nvPicPr>
          <p:cNvPr id="11" name="Picture 10" descr="Screenshot 2026-09-09 225014.png"/>
          <p:cNvPicPr>
            <a:picLocks noChangeAspect="1"/>
          </p:cNvPicPr>
          <p:nvPr/>
        </p:nvPicPr>
        <p:blipFill>
          <a:blip r:embed="rId4"/>
          <a:stretch>
            <a:fillRect/>
          </a:stretch>
        </p:blipFill>
        <p:spPr>
          <a:xfrm>
            <a:off x="5467777" y="1321630"/>
            <a:ext cx="3665538" cy="2643701"/>
          </a:xfrm>
          <a:prstGeom prst="rect">
            <a:avLst/>
          </a:prstGeom>
        </p:spPr>
      </p:pic>
      <p:sp>
        <p:nvSpPr>
          <p:cNvPr id="12" name="Text Placeholder 1">
            <a:extLst>
              <a:ext uri="{FF2B5EF4-FFF2-40B4-BE49-F238E27FC236}">
                <a16:creationId xmlns="" xmlns:a16="http://schemas.microsoft.com/office/drawing/2014/main" id="{F85C769B-425A-FE3B-E47A-3B747985DC52}"/>
              </a:ext>
            </a:extLst>
          </p:cNvPr>
          <p:cNvSpPr txBox="1">
            <a:spLocks/>
          </p:cNvSpPr>
          <p:nvPr/>
        </p:nvSpPr>
        <p:spPr>
          <a:xfrm>
            <a:off x="5513979" y="4293576"/>
            <a:ext cx="4661652" cy="1891629"/>
          </a:xfrm>
          <a:prstGeom prst="rect">
            <a:avLst/>
          </a:prstGeom>
        </p:spPr>
        <p:txBody>
          <a:bodyPr vert="horz" lIns="91440" tIns="45720" rIns="91440" bIns="45720" rtlCol="0">
            <a:normAutofit/>
          </a:bodyPr>
          <a:lstStyle/>
          <a:p>
            <a:pPr lvl="0">
              <a:spcBef>
                <a:spcPts val="1000"/>
              </a:spcBef>
              <a:buClr>
                <a:schemeClr val="accent4"/>
              </a:buClr>
              <a:buSzPct val="80000"/>
            </a:pPr>
            <a:r>
              <a:rPr lang="en-US" sz="1600" dirty="0" smtClean="0">
                <a:latin typeface="Times New Roman" pitchFamily="18" charset="0"/>
                <a:cs typeface="Times New Roman" pitchFamily="18" charset="0"/>
              </a:rPr>
              <a:t>This bar chart shows the average agricultural yield across Indian states, with </a:t>
            </a:r>
            <a:r>
              <a:rPr lang="en-US" sz="1600" b="1" dirty="0" smtClean="0">
                <a:latin typeface="Times New Roman" pitchFamily="18" charset="0"/>
                <a:cs typeface="Times New Roman" pitchFamily="18" charset="0"/>
              </a:rPr>
              <a:t>Punjab</a:t>
            </a:r>
            <a:r>
              <a:rPr lang="en-US" sz="1600" dirty="0" smtClean="0">
                <a:latin typeface="Times New Roman" pitchFamily="18" charset="0"/>
                <a:cs typeface="Times New Roman" pitchFamily="18" charset="0"/>
              </a:rPr>
              <a:t> recording the highest mean yield at approximately 6.1 </a:t>
            </a:r>
            <a:r>
              <a:rPr lang="en-US" sz="1600" dirty="0" err="1" smtClean="0">
                <a:latin typeface="Times New Roman" pitchFamily="18" charset="0"/>
                <a:cs typeface="Times New Roman" pitchFamily="18" charset="0"/>
              </a:rPr>
              <a:t>tonnes</a:t>
            </a:r>
            <a:r>
              <a:rPr lang="en-US" sz="1600" dirty="0" smtClean="0">
                <a:latin typeface="Times New Roman" pitchFamily="18" charset="0"/>
                <a:cs typeface="Times New Roman" pitchFamily="18" charset="0"/>
              </a:rPr>
              <a:t>/ha, followed by </a:t>
            </a:r>
            <a:r>
              <a:rPr lang="en-US" sz="1600" b="1" dirty="0" smtClean="0">
                <a:latin typeface="Times New Roman" pitchFamily="18" charset="0"/>
                <a:cs typeface="Times New Roman" pitchFamily="18" charset="0"/>
              </a:rPr>
              <a:t>Gujarat</a:t>
            </a:r>
            <a:r>
              <a:rPr lang="en-US" sz="1600" dirty="0" smtClean="0">
                <a:latin typeface="Times New Roman" pitchFamily="18" charset="0"/>
                <a:cs typeface="Times New Roman" pitchFamily="18" charset="0"/>
              </a:rPr>
              <a:t> and </a:t>
            </a:r>
            <a:r>
              <a:rPr lang="en-US" sz="1600" b="1" dirty="0" smtClean="0">
                <a:latin typeface="Times New Roman" pitchFamily="18" charset="0"/>
                <a:cs typeface="Times New Roman" pitchFamily="18" charset="0"/>
              </a:rPr>
              <a:t>Karnataka</a:t>
            </a:r>
            <a:r>
              <a:rPr lang="en-US" sz="1600" dirty="0" smtClean="0">
                <a:latin typeface="Times New Roman" pitchFamily="18" charset="0"/>
                <a:cs typeface="Times New Roman" pitchFamily="18" charset="0"/>
              </a:rPr>
              <a:t> at around 5.7 </a:t>
            </a:r>
            <a:r>
              <a:rPr lang="en-US" sz="1600" dirty="0" err="1" smtClean="0">
                <a:latin typeface="Times New Roman" pitchFamily="18" charset="0"/>
                <a:cs typeface="Times New Roman" pitchFamily="18" charset="0"/>
              </a:rPr>
              <a:t>tonnes</a:t>
            </a:r>
            <a:r>
              <a:rPr lang="en-US" sz="1600" dirty="0" smtClean="0">
                <a:latin typeface="Times New Roman" pitchFamily="18" charset="0"/>
                <a:cs typeface="Times New Roman" pitchFamily="18" charset="0"/>
              </a:rPr>
              <a:t>/ha, while </a:t>
            </a:r>
            <a:r>
              <a:rPr lang="en-US" sz="1600" b="1" dirty="0" smtClean="0">
                <a:latin typeface="Times New Roman" pitchFamily="18" charset="0"/>
                <a:cs typeface="Times New Roman" pitchFamily="18" charset="0"/>
              </a:rPr>
              <a:t>Andhra Pradesh</a:t>
            </a:r>
            <a:r>
              <a:rPr lang="en-US" sz="1600" dirty="0" smtClean="0">
                <a:latin typeface="Times New Roman" pitchFamily="18" charset="0"/>
                <a:cs typeface="Times New Roman" pitchFamily="18" charset="0"/>
              </a:rPr>
              <a:t> has the lowest among the group at roughly 4.6 </a:t>
            </a:r>
            <a:r>
              <a:rPr lang="en-US" sz="1600" dirty="0" err="1" smtClean="0">
                <a:latin typeface="Times New Roman" pitchFamily="18" charset="0"/>
                <a:cs typeface="Times New Roman" pitchFamily="18" charset="0"/>
              </a:rPr>
              <a:t>tonnes</a:t>
            </a:r>
            <a:r>
              <a:rPr lang="en-US" sz="1600" dirty="0" smtClean="0">
                <a:latin typeface="Times New Roman" pitchFamily="18" charset="0"/>
                <a:cs typeface="Times New Roman" pitchFamily="18" charset="0"/>
              </a:rPr>
              <a:t>/ha.</a:t>
            </a:r>
            <a:endParaRPr kumimoji="0" lang="en-IN" sz="1600" b="0" i="0" u="none" strike="noStrike" kern="1200" cap="none" spc="0" normalizeH="0" baseline="0" noProof="0" dirty="0">
              <a:ln>
                <a:noFill/>
              </a:ln>
              <a:solidFill>
                <a:schemeClr val="tx1">
                  <a:lumMod val="75000"/>
                  <a:lumOff val="25000"/>
                </a:schemeClr>
              </a:solidFill>
              <a:effectLst/>
              <a:uLnTx/>
              <a:uFillTx/>
              <a:latin typeface="Times New Roman" pitchFamily="18" charset="0"/>
              <a:cs typeface="Times New Roman" pitchFamily="18" charset="0"/>
            </a:endParaRPr>
          </a:p>
        </p:txBody>
      </p:sp>
    </p:spTree>
    <p:extLst>
      <p:ext uri="{BB962C8B-B14F-4D97-AF65-F5344CB8AC3E}">
        <p14:creationId xmlns=""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2">
                                            <p:txEl>
                                              <p:pRg st="0" end="0"/>
                                            </p:txEl>
                                          </p:spTgt>
                                        </p:tgtEl>
                                        <p:attrNameLst>
                                          <p:attrName>style.visibility</p:attrName>
                                        </p:attrNameLst>
                                      </p:cBhvr>
                                      <p:to>
                                        <p:strVal val="visible"/>
                                      </p:to>
                                    </p:set>
                                    <p:animEffect transition="in" filter="fade">
                                      <p:cBhvr>
                                        <p:cTn id="35" dur="1000"/>
                                        <p:tgtEl>
                                          <p:spTgt spid="12">
                                            <p:txEl>
                                              <p:pRg st="0" end="0"/>
                                            </p:txEl>
                                          </p:spTgt>
                                        </p:tgtEl>
                                      </p:cBhvr>
                                    </p:animEffect>
                                    <p:anim calcmode="lin" valueType="num">
                                      <p:cBhvr>
                                        <p:cTn id="36"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1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P spid="12"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latin typeface="Times New Roman" pitchFamily="18" charset="0"/>
                <a:cs typeface="Times New Roman" pitchFamily="18" charset="0"/>
              </a:rPr>
              <a:t>RESULTS</a:t>
            </a:r>
            <a:r>
              <a:rPr lang="en-GB" dirty="0"/>
              <a:t> </a:t>
            </a:r>
            <a:endParaRPr lang="en-IN" dirty="0"/>
          </a:p>
        </p:txBody>
      </p:sp>
      <p:sp>
        <p:nvSpPr>
          <p:cNvPr id="7" name="Text Placeholder 30">
            <a:extLst>
              <a:ext uri="{FF2B5EF4-FFF2-40B4-BE49-F238E27FC236}">
                <a16:creationId xmlns=""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 xmlns:a16="http://schemas.microsoft.com/office/drawing/2014/main" id="{F85C769B-425A-FE3B-E47A-3B747985DC52}"/>
              </a:ext>
            </a:extLst>
          </p:cNvPr>
          <p:cNvSpPr>
            <a:spLocks noGrp="1"/>
          </p:cNvSpPr>
          <p:nvPr>
            <p:ph type="body" sz="quarter" idx="12"/>
          </p:nvPr>
        </p:nvSpPr>
        <p:spPr>
          <a:xfrm>
            <a:off x="587356" y="4237892"/>
            <a:ext cx="4661652" cy="2110154"/>
          </a:xfrm>
        </p:spPr>
        <p:txBody>
          <a:bodyPr>
            <a:noAutofit/>
          </a:bodyPr>
          <a:lstStyle/>
          <a:p>
            <a:pPr marL="0" indent="0">
              <a:buNone/>
            </a:pPr>
            <a:r>
              <a:rPr lang="en-US" sz="1600" dirty="0" smtClean="0">
                <a:latin typeface="Times New Roman" pitchFamily="18" charset="0"/>
                <a:cs typeface="Times New Roman" pitchFamily="18" charset="0"/>
              </a:rPr>
              <a:t>This grouped bar chart compares average rainfall and temperature across agricultural seasons: </a:t>
            </a:r>
            <a:r>
              <a:rPr lang="en-US" sz="1600" b="1" dirty="0" err="1" smtClean="0">
                <a:latin typeface="Times New Roman" pitchFamily="18" charset="0"/>
                <a:cs typeface="Times New Roman" pitchFamily="18" charset="0"/>
              </a:rPr>
              <a:t>Kharif</a:t>
            </a:r>
            <a:r>
              <a:rPr lang="en-US" sz="1600" dirty="0" smtClean="0">
                <a:latin typeface="Times New Roman" pitchFamily="18" charset="0"/>
                <a:cs typeface="Times New Roman" pitchFamily="18" charset="0"/>
              </a:rPr>
              <a:t> experiences the highest average rainfall at roughly 840 mm alongside an average temperature near 28°C, </a:t>
            </a:r>
            <a:r>
              <a:rPr lang="en-US" sz="1600" b="1" dirty="0" smtClean="0">
                <a:latin typeface="Times New Roman" pitchFamily="18" charset="0"/>
                <a:cs typeface="Times New Roman" pitchFamily="18" charset="0"/>
              </a:rPr>
              <a:t>Rabi</a:t>
            </a:r>
            <a:r>
              <a:rPr lang="en-US" sz="1600" dirty="0" smtClean="0">
                <a:latin typeface="Times New Roman" pitchFamily="18" charset="0"/>
                <a:cs typeface="Times New Roman" pitchFamily="18" charset="0"/>
              </a:rPr>
              <a:t> receives moderate rainfall around 435 mm with the coolest average temperature near 20°C, and </a:t>
            </a:r>
            <a:r>
              <a:rPr lang="en-US" sz="1600" b="1" dirty="0" err="1" smtClean="0">
                <a:latin typeface="Times New Roman" pitchFamily="18" charset="0"/>
                <a:cs typeface="Times New Roman" pitchFamily="18" charset="0"/>
              </a:rPr>
              <a:t>Zaid</a:t>
            </a:r>
            <a:r>
              <a:rPr lang="en-US" sz="1600" dirty="0" smtClean="0">
                <a:latin typeface="Times New Roman" pitchFamily="18" charset="0"/>
                <a:cs typeface="Times New Roman" pitchFamily="18" charset="0"/>
              </a:rPr>
              <a:t> records the lowest rainfall at approximately 305 mm with the highest average temperature near 30°C.</a:t>
            </a:r>
            <a:endParaRPr lang="en-IN" sz="1600" dirty="0">
              <a:latin typeface="Times New Roman" pitchFamily="18" charset="0"/>
              <a:cs typeface="Times New Roman" pitchFamily="18" charset="0"/>
            </a:endParaRPr>
          </a:p>
        </p:txBody>
      </p:sp>
      <p:pic>
        <p:nvPicPr>
          <p:cNvPr id="9" name="Picture 8" descr="Screenshot 2026-09-09 224810.png"/>
          <p:cNvPicPr>
            <a:picLocks noChangeAspect="1"/>
          </p:cNvPicPr>
          <p:nvPr/>
        </p:nvPicPr>
        <p:blipFill>
          <a:blip r:embed="rId3"/>
          <a:stretch>
            <a:fillRect/>
          </a:stretch>
        </p:blipFill>
        <p:spPr>
          <a:xfrm>
            <a:off x="1082930" y="1264467"/>
            <a:ext cx="3655550" cy="2692072"/>
          </a:xfrm>
          <a:prstGeom prst="rect">
            <a:avLst/>
          </a:prstGeom>
        </p:spPr>
      </p:pic>
      <p:pic>
        <p:nvPicPr>
          <p:cNvPr id="11" name="Picture 10" descr="Screenshot 2026-09-09 225014.png"/>
          <p:cNvPicPr>
            <a:picLocks noChangeAspect="1"/>
          </p:cNvPicPr>
          <p:nvPr/>
        </p:nvPicPr>
        <p:blipFill>
          <a:blip r:embed="rId4"/>
          <a:stretch>
            <a:fillRect/>
          </a:stretch>
        </p:blipFill>
        <p:spPr>
          <a:xfrm>
            <a:off x="5467777" y="1380393"/>
            <a:ext cx="3665538" cy="2593730"/>
          </a:xfrm>
          <a:prstGeom prst="rect">
            <a:avLst/>
          </a:prstGeom>
        </p:spPr>
      </p:pic>
      <p:sp>
        <p:nvSpPr>
          <p:cNvPr id="12" name="Text Placeholder 1">
            <a:extLst>
              <a:ext uri="{FF2B5EF4-FFF2-40B4-BE49-F238E27FC236}">
                <a16:creationId xmlns="" xmlns:a16="http://schemas.microsoft.com/office/drawing/2014/main" id="{F85C769B-425A-FE3B-E47A-3B747985DC52}"/>
              </a:ext>
            </a:extLst>
          </p:cNvPr>
          <p:cNvSpPr txBox="1">
            <a:spLocks/>
          </p:cNvSpPr>
          <p:nvPr/>
        </p:nvSpPr>
        <p:spPr>
          <a:xfrm>
            <a:off x="5513979" y="4196860"/>
            <a:ext cx="4661652" cy="2212732"/>
          </a:xfrm>
          <a:prstGeom prst="rect">
            <a:avLst/>
          </a:prstGeom>
        </p:spPr>
        <p:txBody>
          <a:bodyPr vert="horz" lIns="91440" tIns="45720" rIns="91440" bIns="45720" rtlCol="0">
            <a:noAutofit/>
          </a:bodyPr>
          <a:lstStyle/>
          <a:p>
            <a:pPr lvl="0">
              <a:spcBef>
                <a:spcPts val="1000"/>
              </a:spcBef>
              <a:buClr>
                <a:schemeClr val="accent4"/>
              </a:buClr>
              <a:buSzPct val="80000"/>
            </a:pPr>
            <a:r>
              <a:rPr lang="en-US" sz="1500" dirty="0" smtClean="0">
                <a:latin typeface="Times New Roman" pitchFamily="18" charset="0"/>
                <a:cs typeface="Times New Roman" pitchFamily="18" charset="0"/>
              </a:rPr>
              <a:t>This grouped bar chart compares the average economic performance across agricultural seasons: </a:t>
            </a:r>
            <a:r>
              <a:rPr lang="en-US" sz="1500" b="1" dirty="0" err="1" smtClean="0">
                <a:latin typeface="Times New Roman" pitchFamily="18" charset="0"/>
                <a:cs typeface="Times New Roman" pitchFamily="18" charset="0"/>
              </a:rPr>
              <a:t>Kharif</a:t>
            </a:r>
            <a:r>
              <a:rPr lang="en-US" sz="1500" dirty="0" smtClean="0">
                <a:latin typeface="Times New Roman" pitchFamily="18" charset="0"/>
                <a:cs typeface="Times New Roman" pitchFamily="18" charset="0"/>
              </a:rPr>
              <a:t> generates the highest average revenue (~710,000 INR) against a total cost of ~530,000 INR, resulting in the highest average profit (~178,000 INR); </a:t>
            </a:r>
            <a:r>
              <a:rPr lang="en-US" sz="1500" b="1" dirty="0" smtClean="0">
                <a:latin typeface="Times New Roman" pitchFamily="18" charset="0"/>
                <a:cs typeface="Times New Roman" pitchFamily="18" charset="0"/>
              </a:rPr>
              <a:t>Rabi</a:t>
            </a:r>
            <a:r>
              <a:rPr lang="en-US" sz="1500" dirty="0" smtClean="0">
                <a:latin typeface="Times New Roman" pitchFamily="18" charset="0"/>
                <a:cs typeface="Times New Roman" pitchFamily="18" charset="0"/>
              </a:rPr>
              <a:t> follows with moderate revenue (~600,000 INR) and cost (~510,000 INR) to yield a profit of ~87,000 INR; while </a:t>
            </a:r>
            <a:r>
              <a:rPr lang="en-US" sz="1500" b="1" dirty="0" err="1" smtClean="0">
                <a:latin typeface="Times New Roman" pitchFamily="18" charset="0"/>
                <a:cs typeface="Times New Roman" pitchFamily="18" charset="0"/>
              </a:rPr>
              <a:t>Zaid</a:t>
            </a:r>
            <a:r>
              <a:rPr lang="en-US" sz="1500" dirty="0" smtClean="0">
                <a:latin typeface="Times New Roman" pitchFamily="18" charset="0"/>
                <a:cs typeface="Times New Roman" pitchFamily="18" charset="0"/>
              </a:rPr>
              <a:t> operates at a loss (~ -25,000 INR) as average costs (~540,000 INR) exceed total revenue (~515,000 INR).</a:t>
            </a:r>
            <a:endParaRPr kumimoji="0" lang="en-IN" sz="1500" b="0" i="0" u="none" strike="noStrike" kern="1200" cap="none" spc="0" normalizeH="0" baseline="0" noProof="0" dirty="0">
              <a:ln>
                <a:noFill/>
              </a:ln>
              <a:solidFill>
                <a:schemeClr val="tx1">
                  <a:lumMod val="75000"/>
                  <a:lumOff val="25000"/>
                </a:schemeClr>
              </a:solidFill>
              <a:effectLst/>
              <a:uLnTx/>
              <a:uFillTx/>
              <a:latin typeface="Times New Roman" pitchFamily="18" charset="0"/>
              <a:cs typeface="Times New Roman" pitchFamily="18" charset="0"/>
            </a:endParaRPr>
          </a:p>
        </p:txBody>
      </p:sp>
    </p:spTree>
    <p:extLst>
      <p:ext uri="{BB962C8B-B14F-4D97-AF65-F5344CB8AC3E}">
        <p14:creationId xmlns=""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2">
                                            <p:txEl>
                                              <p:pRg st="0" end="0"/>
                                            </p:txEl>
                                          </p:spTgt>
                                        </p:tgtEl>
                                        <p:attrNameLst>
                                          <p:attrName>style.visibility</p:attrName>
                                        </p:attrNameLst>
                                      </p:cBhvr>
                                      <p:to>
                                        <p:strVal val="visible"/>
                                      </p:to>
                                    </p:set>
                                    <p:animEffect transition="in" filter="fade">
                                      <p:cBhvr>
                                        <p:cTn id="35" dur="1000"/>
                                        <p:tgtEl>
                                          <p:spTgt spid="12">
                                            <p:txEl>
                                              <p:pRg st="0" end="0"/>
                                            </p:txEl>
                                          </p:spTgt>
                                        </p:tgtEl>
                                      </p:cBhvr>
                                    </p:animEffect>
                                    <p:anim calcmode="lin" valueType="num">
                                      <p:cBhvr>
                                        <p:cTn id="36"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1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P spid="12"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9B097C2C-D75A-31D4-CD9F-366F39CDE51D}"/>
              </a:ext>
            </a:extLst>
          </p:cNvPr>
          <p:cNvSpPr>
            <a:spLocks noGrp="1"/>
          </p:cNvSpPr>
          <p:nvPr>
            <p:ph type="title"/>
          </p:nvPr>
        </p:nvSpPr>
        <p:spPr/>
        <p:txBody>
          <a:bodyPr>
            <a:normAutofit/>
          </a:bodyPr>
          <a:lstStyle/>
          <a:p>
            <a:r>
              <a:rPr lang="en-IN" sz="4000" dirty="0" smtClean="0">
                <a:latin typeface="Times New Roman" pitchFamily="18" charset="0"/>
                <a:cs typeface="Times New Roman" pitchFamily="18" charset="0"/>
              </a:rPr>
              <a:t>FUTURE SCOPE</a:t>
            </a:r>
            <a:endParaRPr lang="en-IN" sz="4000" dirty="0">
              <a:latin typeface="Times New Roman" pitchFamily="18" charset="0"/>
              <a:cs typeface="Times New Roman" pitchFamily="18" charset="0"/>
            </a:endParaRPr>
          </a:p>
        </p:txBody>
      </p:sp>
      <p:sp>
        <p:nvSpPr>
          <p:cNvPr id="6" name="Content Placeholder 5"/>
          <p:cNvSpPr>
            <a:spLocks noGrp="1"/>
          </p:cNvSpPr>
          <p:nvPr>
            <p:ph idx="1"/>
          </p:nvPr>
        </p:nvSpPr>
        <p:spPr>
          <a:xfrm>
            <a:off x="659750" y="1820009"/>
            <a:ext cx="8596668" cy="3578469"/>
          </a:xfrm>
        </p:spPr>
        <p:txBody>
          <a:bodyPr/>
          <a:lstStyle/>
          <a:p>
            <a:r>
              <a:rPr lang="en-US" dirty="0" smtClean="0">
                <a:latin typeface="Times New Roman" pitchFamily="18" charset="0"/>
                <a:cs typeface="Times New Roman" pitchFamily="18" charset="0"/>
              </a:rPr>
              <a:t>The analysis can be expanded to include more regions, crops, and seasons.</a:t>
            </a:r>
          </a:p>
          <a:p>
            <a:r>
              <a:rPr lang="en-US" dirty="0" smtClean="0">
                <a:latin typeface="Times New Roman" pitchFamily="18" charset="0"/>
                <a:cs typeface="Times New Roman" pitchFamily="18" charset="0"/>
              </a:rPr>
              <a:t>Additional agricultural factors such as soil quality, fertilizer usage, and irrigation methods can be analyzed in greater detail.</a:t>
            </a:r>
          </a:p>
          <a:p>
            <a:r>
              <a:rPr lang="en-US" dirty="0" smtClean="0">
                <a:latin typeface="Times New Roman" pitchFamily="18" charset="0"/>
                <a:cs typeface="Times New Roman" pitchFamily="18" charset="0"/>
              </a:rPr>
              <a:t>More historical agricultural data can be included to study long-term seasonal trends.</a:t>
            </a:r>
          </a:p>
          <a:p>
            <a:r>
              <a:rPr lang="en-US" dirty="0" smtClean="0">
                <a:latin typeface="Times New Roman" pitchFamily="18" charset="0"/>
                <a:cs typeface="Times New Roman" pitchFamily="18" charset="0"/>
              </a:rPr>
              <a:t>An interactive dashboard can be developed for easier visualization and comparison.</a:t>
            </a:r>
          </a:p>
          <a:p>
            <a:r>
              <a:rPr lang="en-US" dirty="0" smtClean="0">
                <a:latin typeface="Times New Roman" pitchFamily="18" charset="0"/>
                <a:cs typeface="Times New Roman" pitchFamily="18" charset="0"/>
              </a:rPr>
              <a:t>The project can be extended to support better resource management and seasonal agricultural planning.</a:t>
            </a:r>
          </a:p>
          <a:p>
            <a:r>
              <a:rPr lang="en-US" dirty="0" smtClean="0">
                <a:latin typeface="Times New Roman" pitchFamily="18" charset="0"/>
                <a:cs typeface="Times New Roman" pitchFamily="18" charset="0"/>
              </a:rPr>
              <a:t>Future studies can integrate more detailed weather and market data for deeper analysis.</a:t>
            </a:r>
            <a:endParaRPr lang="en-US" dirty="0">
              <a:latin typeface="Times New Roman" pitchFamily="18" charset="0"/>
              <a:cs typeface="Times New Roman" pitchFamily="18" charset="0"/>
            </a:endParaRPr>
          </a:p>
        </p:txBody>
      </p:sp>
      <p:sp>
        <p:nvSpPr>
          <p:cNvPr id="7" name="Text Placeholder 30">
            <a:extLst>
              <a:ext uri="{FF2B5EF4-FFF2-40B4-BE49-F238E27FC236}">
                <a16:creationId xmlns=""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smtClean="0">
                <a:latin typeface="Times New Roman" pitchFamily="18" charset="0"/>
                <a:cs typeface="Times New Roman" pitchFamily="18" charset="0"/>
              </a:rPr>
              <a:t>GITHUB LINK</a:t>
            </a:r>
            <a:endParaRPr lang="en-IN" sz="4000" dirty="0">
              <a:latin typeface="Times New Roman" pitchFamily="18" charset="0"/>
              <a:cs typeface="Times New Roman" pitchFamily="18" charset="0"/>
            </a:endParaRPr>
          </a:p>
        </p:txBody>
      </p:sp>
      <p:sp>
        <p:nvSpPr>
          <p:cNvPr id="7" name="Text Placeholder 30">
            <a:extLst>
              <a:ext uri="{FF2B5EF4-FFF2-40B4-BE49-F238E27FC236}">
                <a16:creationId xmlns=""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itle 3">
            <a:extLst>
              <a:ext uri="{FF2B5EF4-FFF2-40B4-BE49-F238E27FC236}">
                <a16:creationId xmlns="" xmlns:a16="http://schemas.microsoft.com/office/drawing/2014/main" id="{901A2257-2F98-CB88-038E-C0F1D0A1A363}"/>
              </a:ext>
            </a:extLst>
          </p:cNvPr>
          <p:cNvSpPr txBox="1">
            <a:spLocks/>
          </p:cNvSpPr>
          <p:nvPr/>
        </p:nvSpPr>
        <p:spPr>
          <a:xfrm>
            <a:off x="749226" y="1411012"/>
            <a:ext cx="7023174" cy="830997"/>
          </a:xfrm>
          <a:prstGeom prst="rect">
            <a:avLst/>
          </a:prstGeom>
        </p:spPr>
        <p:txBody>
          <a:bodyPr vert="horz" lIns="91440" tIns="45720" rIns="91440" bIns="45720" rtlCol="0" anchor="t">
            <a:normAutofit/>
          </a:bodyPr>
          <a:lstStyle/>
          <a:p>
            <a:pPr lvl="0">
              <a:spcBef>
                <a:spcPct val="0"/>
              </a:spcBef>
            </a:pPr>
            <a:endParaRPr kumimoji="0" lang="en-IN" sz="20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9" name="Title 3">
            <a:extLst>
              <a:ext uri="{FF2B5EF4-FFF2-40B4-BE49-F238E27FC236}">
                <a16:creationId xmlns="" xmlns:a16="http://schemas.microsoft.com/office/drawing/2014/main" id="{901A2257-2F98-CB88-038E-C0F1D0A1A363}"/>
              </a:ext>
            </a:extLst>
          </p:cNvPr>
          <p:cNvSpPr txBox="1">
            <a:spLocks/>
          </p:cNvSpPr>
          <p:nvPr/>
        </p:nvSpPr>
        <p:spPr>
          <a:xfrm>
            <a:off x="687680" y="1613235"/>
            <a:ext cx="4735798" cy="830997"/>
          </a:xfrm>
          <a:prstGeom prst="rect">
            <a:avLst/>
          </a:prstGeom>
        </p:spPr>
        <p:txBody>
          <a:bodyPr vert="horz" lIns="91440" tIns="45720" rIns="91440" bIns="45720" rtlCol="0" anchor="t">
            <a:normAutofit/>
          </a:bodyPr>
          <a:lstStyle/>
          <a:p>
            <a:pPr marL="0" marR="0" lvl="0" indent="0" algn="l" defTabSz="457200" rtl="0" eaLnBrk="1" fontAlgn="auto" latinLnBrk="0" hangingPunct="1">
              <a:lnSpc>
                <a:spcPct val="100000"/>
              </a:lnSpc>
              <a:spcBef>
                <a:spcPct val="0"/>
              </a:spcBef>
              <a:spcAft>
                <a:spcPts val="0"/>
              </a:spcAft>
              <a:buClrTx/>
              <a:buSzTx/>
              <a:buFontTx/>
              <a:buNone/>
              <a:tabLst/>
              <a:defRPr/>
            </a:pPr>
            <a:endParaRPr kumimoji="0" lang="en-IN" sz="40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10" name="Title 3">
            <a:extLst>
              <a:ext uri="{FF2B5EF4-FFF2-40B4-BE49-F238E27FC236}">
                <a16:creationId xmlns="" xmlns:a16="http://schemas.microsoft.com/office/drawing/2014/main" id="{901A2257-2F98-CB88-038E-C0F1D0A1A363}"/>
              </a:ext>
            </a:extLst>
          </p:cNvPr>
          <p:cNvSpPr txBox="1">
            <a:spLocks/>
          </p:cNvSpPr>
          <p:nvPr/>
        </p:nvSpPr>
        <p:spPr>
          <a:xfrm>
            <a:off x="793188" y="1578065"/>
            <a:ext cx="4735798" cy="830997"/>
          </a:xfrm>
          <a:prstGeom prst="rect">
            <a:avLst/>
          </a:prstGeom>
        </p:spPr>
        <p:txBody>
          <a:bodyPr vert="horz" lIns="91440" tIns="45720" rIns="91440" bIns="45720" rtlCol="0" anchor="t">
            <a:normAutofit fontScale="47500" lnSpcReduction="20000"/>
          </a:bodyPr>
          <a:lstStyle/>
          <a:p>
            <a:pPr lvl="0">
              <a:spcBef>
                <a:spcPct val="0"/>
              </a:spcBef>
            </a:pPr>
            <a:r>
              <a:rPr lang="en-IN" sz="4000" b="1" dirty="0" smtClean="0">
                <a:latin typeface="Times New Roman" pitchFamily="18" charset="0"/>
                <a:ea typeface="+mj-ea"/>
                <a:cs typeface="Times New Roman" pitchFamily="18" charset="0"/>
              </a:rPr>
              <a:t>https://github.com/Shriraksha08/Seasonal-Agricultural-Performance-Analysis.git</a:t>
            </a:r>
            <a:endParaRPr kumimoji="0" lang="en-IN" sz="40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Tree>
    <p:extLst>
      <p:ext uri="{BB962C8B-B14F-4D97-AF65-F5344CB8AC3E}">
        <p14:creationId xmlns=""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nodePh="1">
                                  <p:stCondLst>
                                    <p:cond delay="0"/>
                                  </p:stCondLst>
                                  <p:endCondLst>
                                    <p:cond evt="begin" delay="0">
                                      <p:tn val="26"/>
                                    </p:cond>
                                  </p:endCondLst>
                                  <p:childTnLst>
                                    <p:set>
                                      <p:cBhvr>
                                        <p:cTn id="27" dur="1" fill="hold">
                                          <p:stCondLst>
                                            <p:cond delay="0"/>
                                          </p:stCondLst>
                                        </p:cTn>
                                        <p:tgtEl>
                                          <p:spTgt spid="6"/>
                                        </p:tgtEl>
                                        <p:attrNameLst>
                                          <p:attrName>style.visibility</p:attrName>
                                        </p:attrNameLst>
                                      </p:cBhvr>
                                      <p:to>
                                        <p:strVal val="visible"/>
                                      </p:to>
                                    </p:set>
                                    <p:anim calcmode="lin" valueType="num">
                                      <p:cBhvr>
                                        <p:cTn id="28" dur="500" fill="hold"/>
                                        <p:tgtEl>
                                          <p:spTgt spid="6"/>
                                        </p:tgtEl>
                                        <p:attrNameLst>
                                          <p:attrName>ppt_w</p:attrName>
                                        </p:attrNameLst>
                                      </p:cBhvr>
                                      <p:tavLst>
                                        <p:tav tm="0">
                                          <p:val>
                                            <p:fltVal val="0"/>
                                          </p:val>
                                        </p:tav>
                                        <p:tav tm="100000">
                                          <p:val>
                                            <p:strVal val="#ppt_w"/>
                                          </p:val>
                                        </p:tav>
                                      </p:tavLst>
                                    </p:anim>
                                    <p:anim calcmode="lin" valueType="num">
                                      <p:cBhvr>
                                        <p:cTn id="29" dur="500" fill="hold"/>
                                        <p:tgtEl>
                                          <p:spTgt spid="6"/>
                                        </p:tgtEl>
                                        <p:attrNameLst>
                                          <p:attrName>ppt_h</p:attrName>
                                        </p:attrNameLst>
                                      </p:cBhvr>
                                      <p:tavLst>
                                        <p:tav tm="0">
                                          <p:val>
                                            <p:fltVal val="0"/>
                                          </p:val>
                                        </p:tav>
                                        <p:tav tm="100000">
                                          <p:val>
                                            <p:strVal val="#ppt_h"/>
                                          </p:val>
                                        </p:tav>
                                      </p:tavLst>
                                    </p:anim>
                                    <p:animEffect transition="in" filter="fade">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nodePh="1">
                                  <p:stCondLst>
                                    <p:cond delay="0"/>
                                  </p:stCondLst>
                                  <p:endCondLst>
                                    <p:cond evt="begin" delay="0">
                                      <p:tn val="33"/>
                                    </p:cond>
                                  </p:endCondLst>
                                  <p:childTnLst>
                                    <p:set>
                                      <p:cBhvr>
                                        <p:cTn id="34" dur="1" fill="hold">
                                          <p:stCondLst>
                                            <p:cond delay="0"/>
                                          </p:stCondLst>
                                        </p:cTn>
                                        <p:tgtEl>
                                          <p:spTgt spid="9"/>
                                        </p:tgtEl>
                                        <p:attrNameLst>
                                          <p:attrName>style.visibility</p:attrName>
                                        </p:attrNameLst>
                                      </p:cBhvr>
                                      <p:to>
                                        <p:strVal val="visible"/>
                                      </p:to>
                                    </p:set>
                                    <p:anim calcmode="lin" valueType="num">
                                      <p:cBhvr>
                                        <p:cTn id="35" dur="500" fill="hold"/>
                                        <p:tgtEl>
                                          <p:spTgt spid="9"/>
                                        </p:tgtEl>
                                        <p:attrNameLst>
                                          <p:attrName>ppt_w</p:attrName>
                                        </p:attrNameLst>
                                      </p:cBhvr>
                                      <p:tavLst>
                                        <p:tav tm="0">
                                          <p:val>
                                            <p:fltVal val="0"/>
                                          </p:val>
                                        </p:tav>
                                        <p:tav tm="100000">
                                          <p:val>
                                            <p:strVal val="#ppt_w"/>
                                          </p:val>
                                        </p:tav>
                                      </p:tavLst>
                                    </p:anim>
                                    <p:anim calcmode="lin" valueType="num">
                                      <p:cBhvr>
                                        <p:cTn id="36" dur="500" fill="hold"/>
                                        <p:tgtEl>
                                          <p:spTgt spid="9"/>
                                        </p:tgtEl>
                                        <p:attrNameLst>
                                          <p:attrName>ppt_h</p:attrName>
                                        </p:attrNameLst>
                                      </p:cBhvr>
                                      <p:tavLst>
                                        <p:tav tm="0">
                                          <p:val>
                                            <p:fltVal val="0"/>
                                          </p:val>
                                        </p:tav>
                                        <p:tav tm="100000">
                                          <p:val>
                                            <p:strVal val="#ppt_h"/>
                                          </p:val>
                                        </p:tav>
                                      </p:tavLst>
                                    </p:anim>
                                    <p:animEffect transition="in" filter="fad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 calcmode="lin" valueType="num">
                                      <p:cBhvr>
                                        <p:cTn id="42" dur="500" fill="hold"/>
                                        <p:tgtEl>
                                          <p:spTgt spid="10"/>
                                        </p:tgtEl>
                                        <p:attrNameLst>
                                          <p:attrName>ppt_w</p:attrName>
                                        </p:attrNameLst>
                                      </p:cBhvr>
                                      <p:tavLst>
                                        <p:tav tm="0">
                                          <p:val>
                                            <p:fltVal val="0"/>
                                          </p:val>
                                        </p:tav>
                                        <p:tav tm="100000">
                                          <p:val>
                                            <p:strVal val="#ppt_w"/>
                                          </p:val>
                                        </p:tav>
                                      </p:tavLst>
                                    </p:anim>
                                    <p:anim calcmode="lin" valueType="num">
                                      <p:cBhvr>
                                        <p:cTn id="43" dur="500" fill="hold"/>
                                        <p:tgtEl>
                                          <p:spTgt spid="10"/>
                                        </p:tgtEl>
                                        <p:attrNameLst>
                                          <p:attrName>ppt_h</p:attrName>
                                        </p:attrNameLst>
                                      </p:cBhvr>
                                      <p:tavLst>
                                        <p:tav tm="0">
                                          <p:val>
                                            <p:fltVal val="0"/>
                                          </p:val>
                                        </p:tav>
                                        <p:tav tm="100000">
                                          <p:val>
                                            <p:strVal val="#ppt_h"/>
                                          </p:val>
                                        </p:tav>
                                      </p:tavLst>
                                    </p:anim>
                                    <p:animEffect transition="in" filter="fade">
                                      <p:cBhvr>
                                        <p:cTn id="4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6" grpId="0"/>
      <p:bldP spid="9" grpId="0"/>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latin typeface="Times New Roman" pitchFamily="18" charset="0"/>
                <a:cs typeface="Times New Roman" pitchFamily="18" charset="0"/>
              </a:rPr>
              <a:t>VOIS </a:t>
            </a:r>
            <a:r>
              <a:rPr lang="en-IN" sz="3200" dirty="0" smtClean="0">
                <a:latin typeface="Times New Roman" pitchFamily="18" charset="0"/>
                <a:cs typeface="Times New Roman" pitchFamily="18" charset="0"/>
              </a:rPr>
              <a:t>COURSE COMPLETION CERTIFICATE- </a:t>
            </a:r>
            <a:r>
              <a:rPr lang="en-IN" sz="3200" dirty="0">
                <a:latin typeface="Times New Roman" pitchFamily="18" charset="0"/>
                <a:cs typeface="Times New Roman" pitchFamily="18" charset="0"/>
              </a:rPr>
              <a:t/>
            </a:r>
            <a:br>
              <a:rPr lang="en-IN" sz="3200" dirty="0">
                <a:latin typeface="Times New Roman" pitchFamily="18" charset="0"/>
                <a:cs typeface="Times New Roman" pitchFamily="18" charset="0"/>
              </a:rPr>
            </a:br>
            <a:r>
              <a:rPr lang="en-IN" sz="3200" dirty="0" smtClean="0">
                <a:latin typeface="Times New Roman" pitchFamily="18" charset="0"/>
                <a:cs typeface="Times New Roman" pitchFamily="18" charset="0"/>
              </a:rPr>
              <a:t>COURSE NAME- DATA VISUALIZATION</a:t>
            </a:r>
            <a:endParaRPr lang="en-IN" sz="3200" dirty="0">
              <a:latin typeface="Times New Roman" pitchFamily="18" charset="0"/>
              <a:cs typeface="Times New Roman" pitchFamily="18" charset="0"/>
            </a:endParaRPr>
          </a:p>
        </p:txBody>
      </p:sp>
      <p:sp>
        <p:nvSpPr>
          <p:cNvPr id="7" name="Text Placeholder 30">
            <a:extLst>
              <a:ext uri="{FF2B5EF4-FFF2-40B4-BE49-F238E27FC236}">
                <a16:creationId xmlns=""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descr="Certificate (1)_page-0001.jpg"/>
          <p:cNvPicPr>
            <a:picLocks noChangeAspect="1"/>
          </p:cNvPicPr>
          <p:nvPr/>
        </p:nvPicPr>
        <p:blipFill>
          <a:blip r:embed="rId3"/>
          <a:stretch>
            <a:fillRect/>
          </a:stretch>
        </p:blipFill>
        <p:spPr>
          <a:xfrm>
            <a:off x="1249533" y="1477108"/>
            <a:ext cx="8184614" cy="4844561"/>
          </a:xfrm>
          <a:prstGeom prst="rect">
            <a:avLst/>
          </a:prstGeom>
        </p:spPr>
      </p:pic>
    </p:spTree>
    <p:extLst>
      <p:ext uri="{BB962C8B-B14F-4D97-AF65-F5344CB8AC3E}">
        <p14:creationId xmlns=""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 xmlns:a16="http://schemas.microsoft.com/office/drawing/2014/main" id="{D88C20CF-C1EE-4092-B52D-FD4AB2AB2508}"/>
              </a:ext>
            </a:extLst>
          </p:cNvPr>
          <p:cNvSpPr>
            <a:spLocks noGrp="1"/>
          </p:cNvSpPr>
          <p:nvPr>
            <p:ph type="title"/>
          </p:nvPr>
        </p:nvSpPr>
        <p:spPr>
          <a:xfrm>
            <a:off x="432000" y="1556238"/>
            <a:ext cx="9424177" cy="2875084"/>
          </a:xfrm>
          <a:prstGeom prst="rect">
            <a:avLst/>
          </a:prstGeom>
        </p:spPr>
        <p:txBody>
          <a:bodyPr anchor="ctr">
            <a:normAutofit/>
          </a:bodyPr>
          <a:lstStyle/>
          <a:p>
            <a:pPr algn="ctr"/>
            <a:r>
              <a:rPr lang="en-US" sz="4800" b="1" dirty="0" smtClean="0">
                <a:solidFill>
                  <a:schemeClr val="tx1"/>
                </a:solidFill>
                <a:latin typeface="Times New Roman" pitchFamily="18" charset="0"/>
                <a:cs typeface="Times New Roman" pitchFamily="18" charset="0"/>
              </a:rPr>
              <a:t>THANK YOU</a:t>
            </a:r>
            <a:endParaRPr lang="en-US" sz="4800" b="1" dirty="0">
              <a:solidFill>
                <a:schemeClr val="tx1"/>
              </a:solidFill>
              <a:latin typeface="Times New Roman" pitchFamily="18" charset="0"/>
              <a:cs typeface="Times New Roman" pitchFamily="18" charset="0"/>
            </a:endParaRPr>
          </a:p>
        </p:txBody>
      </p:sp>
      <p:sp>
        <p:nvSpPr>
          <p:cNvPr id="31" name="Text Placeholder 30">
            <a:extLst>
              <a:ext uri="{FF2B5EF4-FFF2-40B4-BE49-F238E27FC236}">
                <a16:creationId xmlns=""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733</TotalTime>
  <Words>1508</Words>
  <Application>Microsoft Office PowerPoint</Application>
  <PresentationFormat>Custom</PresentationFormat>
  <Paragraphs>72</Paragraphs>
  <Slides>18</Slides>
  <Notes>1</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Facet</vt:lpstr>
      <vt:lpstr>Project Title –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RESULTS </vt:lpstr>
      <vt:lpstr>RESULTS </vt:lpstr>
      <vt:lpstr>RESULTS </vt:lpstr>
      <vt:lpstr>FUTURE SCOPE</vt:lpstr>
      <vt:lpstr>GITHUB LINK</vt:lpstr>
      <vt:lpstr>VOIS COURSE COMPLETION CERTIFICATE-  COURSE NAME- DATA VISUALIZATION</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Shriraksha Helavar</cp:lastModifiedBy>
  <cp:revision>114</cp:revision>
  <dcterms:created xsi:type="dcterms:W3CDTF">2021-07-11T13:13:15Z</dcterms:created>
  <dcterms:modified xsi:type="dcterms:W3CDTF">2026-09-09T18:44:38Z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